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ID – </a:t>
            </a:r>
            <a:r>
              <a:rPr sz="1300">
                <a:solidFill>
                  <a:srgbClr val="333F50"/>
                </a:solidFill>
                <a:latin typeface="Arial"/>
              </a:rPr>
              <a:t>26153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Problem Statement Title – </a:t>
            </a:r>
            <a:r>
              <a:rPr sz="1300">
                <a:solidFill>
                  <a:srgbClr val="333F50"/>
                </a:solidFill>
                <a:latin typeface="Arial"/>
              </a:rPr>
              <a:t>AI based Network Attack Forecasting from Network Traffic Data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Theme – </a:t>
            </a:r>
            <a:r>
              <a:rPr sz="1300">
                <a:solidFill>
                  <a:srgbClr val="333F50"/>
                </a:solidFill>
                <a:latin typeface="Arial"/>
              </a:rPr>
              <a:t>Blockchain &amp; Cybersecurity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PS Category – </a:t>
            </a:r>
            <a:r>
              <a:rPr sz="1300">
                <a:solidFill>
                  <a:srgbClr val="333F50"/>
                </a:solidFill>
                <a:latin typeface="Arial"/>
              </a:rPr>
              <a:t>Software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Organisation – </a:t>
            </a:r>
            <a:r>
              <a:rPr sz="1300">
                <a:solidFill>
                  <a:srgbClr val="333F50"/>
                </a:solidFill>
                <a:latin typeface="Arial"/>
              </a:rPr>
              <a:t>National Technical Research Organisation (NTRO)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Team Name – </a:t>
            </a:r>
            <a:r>
              <a:rPr sz="1300">
                <a:solidFill>
                  <a:srgbClr val="333F50"/>
                </a:solidFill>
                <a:latin typeface="Arial"/>
              </a:rPr>
              <a:t>Git with It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3600" b="1">
                <a:latin typeface="Times New Roman"/>
              </a:rPr>
              <a:t>PREDICTIVE CYBER DEFENCE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411480" y="1298448"/>
            <a:ext cx="11338560" cy="438912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We do not classify traffic - we learn how a network's state evolves, then run that model forward to see where a host is heading.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847088"/>
            <a:ext cx="53949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AttackForecast - what it is made of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48056" y="2103120"/>
            <a:ext cx="53218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5366" name="Connector 15365"/>
          <p:cNvCxnSpPr/>
          <p:nvPr/>
        </p:nvCxnSpPr>
        <p:spPr>
          <a:xfrm flipH="1" flipV="1">
            <a:off x="2029968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7" name="Rounded Rectangle 15366"/>
          <p:cNvSpPr/>
          <p:nvPr/>
        </p:nvSpPr>
        <p:spPr>
          <a:xfrm>
            <a:off x="411480" y="2389632"/>
            <a:ext cx="1618488" cy="38404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Flow features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11480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- 39 per 60-second window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bytes, ports, entropy</a:t>
            </a:r>
          </a:p>
        </p:txBody>
      </p:sp>
      <p:cxnSp>
        <p:nvCxnSpPr>
          <p:cNvPr id="15369" name="Connector 15368"/>
          <p:cNvCxnSpPr/>
          <p:nvPr/>
        </p:nvCxnSpPr>
        <p:spPr>
          <a:xfrm flipH="1" flipV="1">
            <a:off x="2029968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11480" y="3566160"/>
            <a:ext cx="1618488" cy="38404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Packet features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11480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- 23 from raw PCAP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TTL variance, TCP window</a:t>
            </a:r>
          </a:p>
        </p:txBody>
      </p:sp>
      <p:cxnSp>
        <p:nvCxnSpPr>
          <p:cNvPr id="15372" name="Connector 15371"/>
          <p:cNvCxnSpPr/>
          <p:nvPr/>
        </p:nvCxnSpPr>
        <p:spPr>
          <a:xfrm flipH="1">
            <a:off x="2029968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3" name="Rounded Rectangle 15372"/>
          <p:cNvSpPr/>
          <p:nvPr/>
        </p:nvSpPr>
        <p:spPr>
          <a:xfrm>
            <a:off x="411480" y="4742688"/>
            <a:ext cx="1618488" cy="38404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World model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11480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encoder + GRU + prior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learns state transitions</a:t>
            </a:r>
          </a:p>
        </p:txBody>
      </p:sp>
      <p:cxnSp>
        <p:nvCxnSpPr>
          <p:cNvPr id="15375" name="Connector 15374"/>
          <p:cNvCxnSpPr/>
          <p:nvPr/>
        </p:nvCxnSpPr>
        <p:spPr>
          <a:xfrm flipV="1">
            <a:off x="3986784" y="2590800"/>
            <a:ext cx="201168" cy="14051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6" name="Rounded Rectangle 15375"/>
          <p:cNvSpPr/>
          <p:nvPr/>
        </p:nvSpPr>
        <p:spPr>
          <a:xfrm>
            <a:off x="4187952" y="2389632"/>
            <a:ext cx="1618488" cy="38404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Forecasting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4187952" y="2810256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- 10 states imagined ahead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uncertainty band</a:t>
            </a:r>
          </a:p>
        </p:txBody>
      </p:sp>
      <p:cxnSp>
        <p:nvCxnSpPr>
          <p:cNvPr id="15378" name="Connector 15377"/>
          <p:cNvCxnSpPr/>
          <p:nvPr/>
        </p:nvCxnSpPr>
        <p:spPr>
          <a:xfrm flipV="1">
            <a:off x="3986784" y="3767328"/>
            <a:ext cx="201168" cy="228600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9" name="Rounded Rectangle 15378"/>
          <p:cNvSpPr/>
          <p:nvPr/>
        </p:nvSpPr>
        <p:spPr>
          <a:xfrm>
            <a:off x="4187952" y="3566160"/>
            <a:ext cx="1618488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ATT&amp;CK mapping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187952" y="3986784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- 5 kill-chain stages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technique IDs attached</a:t>
            </a:r>
          </a:p>
        </p:txBody>
      </p:sp>
      <p:cxnSp>
        <p:nvCxnSpPr>
          <p:cNvPr id="15381" name="Connector 15380"/>
          <p:cNvCxnSpPr/>
          <p:nvPr/>
        </p:nvCxnSpPr>
        <p:spPr>
          <a:xfrm>
            <a:off x="3986784" y="3995928"/>
            <a:ext cx="201168" cy="947928"/>
          </a:xfrm>
          <a:prstGeom prst="line">
            <a:avLst/>
          </a:prstGeom>
          <a:ln w="12700">
            <a:solidFill>
              <a:srgbClr val="D3DDE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2" name="Rounded Rectangle 15381"/>
          <p:cNvSpPr/>
          <p:nvPr/>
        </p:nvSpPr>
        <p:spPr>
          <a:xfrm>
            <a:off x="4187952" y="4742688"/>
            <a:ext cx="1618488" cy="384048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187952" y="5163312"/>
            <a:ext cx="1618488" cy="43891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integrated gradients</a:t>
            </a:r>
          </a:p>
          <a:p>
            <a:pPr algn="ctr"/>
            <a:r>
              <a:rPr sz="750" b="0">
                <a:solidFill>
                  <a:srgbClr val="5A6478"/>
                </a:solidFill>
                <a:latin typeface="Arial"/>
              </a:rPr>
              <a:t>- temporal attention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2231136" y="3575304"/>
            <a:ext cx="1755648" cy="841248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800" b="0">
                <a:solidFill>
                  <a:srgbClr val="FFFFFF"/>
                </a:solidFill>
                <a:latin typeface="Arial"/>
              </a:rPr>
              <a:t>RSSM world model  -  138k parameters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6309360" y="184708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86" name="Rectangle 15385"/>
          <p:cNvSpPr/>
          <p:nvPr/>
        </p:nvSpPr>
        <p:spPr>
          <a:xfrm>
            <a:off x="6345936" y="210312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7" name="Right Arrow 15386"/>
          <p:cNvSpPr/>
          <p:nvPr/>
        </p:nvSpPr>
        <p:spPr>
          <a:xfrm>
            <a:off x="6309360" y="3054096"/>
            <a:ext cx="5440679" cy="402336"/>
          </a:xfrm>
          <a:prstGeom prst="rightArrow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8" name="Rounded Rectangle 15387"/>
          <p:cNvSpPr/>
          <p:nvPr/>
        </p:nvSpPr>
        <p:spPr>
          <a:xfrm>
            <a:off x="6400800" y="2971800"/>
            <a:ext cx="786384" cy="566928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6272784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Observe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60-second host windows</a:t>
            </a:r>
          </a:p>
        </p:txBody>
      </p:sp>
      <p:sp>
        <p:nvSpPr>
          <p:cNvPr id="15390" name="Rounded Rectangle 15389"/>
          <p:cNvSpPr/>
          <p:nvPr/>
        </p:nvSpPr>
        <p:spPr>
          <a:xfrm>
            <a:off x="7445502" y="2971800"/>
            <a:ext cx="786384" cy="566928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6970014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Learn transitions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what state follows this state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8490204" y="2971800"/>
            <a:ext cx="786384" cy="566928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8014716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Cut the traffic off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model sees nothing more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9534905" y="2971800"/>
            <a:ext cx="786384" cy="566928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9059417" y="3511296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333F50"/>
                </a:solidFill>
                <a:latin typeface="Arial"/>
              </a:rPr>
              <a:t>Imagine 10 steps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333F50"/>
                </a:solidFill>
                <a:latin typeface="Arial"/>
              </a:rPr>
              <a:t>it generates the future itself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10579608" y="2971800"/>
            <a:ext cx="786384" cy="56692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10049255" y="2249424"/>
            <a:ext cx="1737360" cy="585216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Score each state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risk + ATT&amp;CK stage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6309360" y="4224528"/>
            <a:ext cx="544067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6345936" y="4480560"/>
            <a:ext cx="536752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0" name="Rounded Rectangle 15399"/>
          <p:cNvSpPr/>
          <p:nvPr/>
        </p:nvSpPr>
        <p:spPr>
          <a:xfrm>
            <a:off x="6309360" y="4617720"/>
            <a:ext cx="1959863" cy="457200"/>
          </a:xfrm>
          <a:prstGeom prst="roundRect">
            <a:avLst/>
          </a:prstGeom>
          <a:noFill/>
          <a:ln w="57150">
            <a:solidFill>
              <a:srgbClr val="E37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TextBox 15400"/>
          <p:cNvSpPr txBox="1"/>
          <p:nvPr/>
        </p:nvSpPr>
        <p:spPr>
          <a:xfrm>
            <a:off x="6492240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E37B2A"/>
                </a:solidFill>
                <a:latin typeface="Arial"/>
              </a:rPr>
              <a:t>World model, not a classifier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heads read the latent state, so they work on imagined states</a:t>
            </a:r>
          </a:p>
        </p:txBody>
      </p:sp>
      <p:sp>
        <p:nvSpPr>
          <p:cNvPr id="15402" name="Rounded Rectangle 15401"/>
          <p:cNvSpPr/>
          <p:nvPr/>
        </p:nvSpPr>
        <p:spPr>
          <a:xfrm>
            <a:off x="8049767" y="4617720"/>
            <a:ext cx="1959863" cy="457200"/>
          </a:xfrm>
          <a:prstGeom prst="roundRect">
            <a:avLst/>
          </a:prstGeom>
          <a:noFill/>
          <a:ln w="57150">
            <a:solidFill>
              <a:srgbClr val="7A4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3" name="TextBox 15402"/>
          <p:cNvSpPr txBox="1"/>
          <p:nvPr/>
        </p:nvSpPr>
        <p:spPr>
          <a:xfrm>
            <a:off x="8232647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A45D1"/>
                </a:solidFill>
                <a:latin typeface="Arial"/>
              </a:rPr>
              <a:t>Falsifiable by construction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imagination-only loss gives zero encoder gradient - in our tests</a:t>
            </a:r>
          </a:p>
        </p:txBody>
      </p:sp>
      <p:sp>
        <p:nvSpPr>
          <p:cNvPr id="15404" name="Rounded Rectangle 15403"/>
          <p:cNvSpPr/>
          <p:nvPr/>
        </p:nvSpPr>
        <p:spPr>
          <a:xfrm>
            <a:off x="9790176" y="4617720"/>
            <a:ext cx="1959863" cy="457200"/>
          </a:xfrm>
          <a:prstGeom prst="roundRect">
            <a:avLst/>
          </a:prstGeom>
          <a:noFill/>
          <a:ln w="57150">
            <a:solidFill>
              <a:srgbClr val="7793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5" name="TextBox 15404"/>
          <p:cNvSpPr txBox="1"/>
          <p:nvPr/>
        </p:nvSpPr>
        <p:spPr>
          <a:xfrm>
            <a:off x="9973056" y="5120640"/>
            <a:ext cx="1594103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1">
                <a:solidFill>
                  <a:srgbClr val="77933C"/>
                </a:solidFill>
                <a:latin typeface="Arial"/>
              </a:rPr>
              <a:t>Runs offline on a CPU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no cloud, no GPU, no external API - air-gap ready for CII networks</a:t>
            </a:r>
          </a:p>
        </p:txBody>
      </p:sp>
      <p:sp>
        <p:nvSpPr>
          <p:cNvPr id="15406" name="Rounded Rectangle 15405"/>
          <p:cNvSpPr/>
          <p:nvPr/>
        </p:nvSpPr>
        <p:spPr>
          <a:xfrm>
            <a:off x="411480" y="5833872"/>
            <a:ext cx="11338560" cy="384048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Working prototype today  -  258,229 network states from all 13 CTU-13 captures  -  28 of 30 infected hosts flagged at 4.9% false alarms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644652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Architecture - traffic in, forecast out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637336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Rounded Rectangle 17412"/>
          <p:cNvSpPr/>
          <p:nvPr/>
        </p:nvSpPr>
        <p:spPr>
          <a:xfrm>
            <a:off x="685800" y="1755648"/>
            <a:ext cx="5897880" cy="457200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INGEST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NetFlow / .binetflow  -  raw PCAP via Scapy</a:t>
            </a:r>
          </a:p>
        </p:txBody>
      </p:sp>
      <p:sp>
        <p:nvSpPr>
          <p:cNvPr id="17414" name="Down Arrow 17413"/>
          <p:cNvSpPr/>
          <p:nvPr/>
        </p:nvSpPr>
        <p:spPr>
          <a:xfrm>
            <a:off x="3543300" y="22265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685800" y="2350008"/>
            <a:ext cx="5897880" cy="45720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FEATURE EXTRACTION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39 flow features  +  23 packet features</a:t>
            </a:r>
          </a:p>
        </p:txBody>
      </p:sp>
      <p:sp>
        <p:nvSpPr>
          <p:cNvPr id="17416" name="Down Arrow 17415"/>
          <p:cNvSpPr/>
          <p:nvPr/>
        </p:nvSpPr>
        <p:spPr>
          <a:xfrm>
            <a:off x="3543300" y="282092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Rounded Rectangle 17416"/>
          <p:cNvSpPr/>
          <p:nvPr/>
        </p:nvSpPr>
        <p:spPr>
          <a:xfrm>
            <a:off x="685800" y="2944368"/>
            <a:ext cx="5897880" cy="45720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NETWORK STATE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one cell per (host, 60-second window)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3543300" y="341528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685800" y="3538727"/>
            <a:ext cx="5897880" cy="45720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ENCODER + GRU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latent state carrying the host's history</a:t>
            </a:r>
          </a:p>
        </p:txBody>
      </p:sp>
      <p:sp>
        <p:nvSpPr>
          <p:cNvPr id="17420" name="Down Arrow 17419"/>
          <p:cNvSpPr/>
          <p:nvPr/>
        </p:nvSpPr>
        <p:spPr>
          <a:xfrm>
            <a:off x="3543300" y="400964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Rounded Rectangle 17420"/>
          <p:cNvSpPr/>
          <p:nvPr/>
        </p:nvSpPr>
        <p:spPr>
          <a:xfrm>
            <a:off x="685800" y="4133087"/>
            <a:ext cx="5897880" cy="45720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PRIOR ROLLOUT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states imagined with no traffic observed</a:t>
            </a:r>
          </a:p>
        </p:txBody>
      </p:sp>
      <p:sp>
        <p:nvSpPr>
          <p:cNvPr id="17422" name="Down Arrow 17421"/>
          <p:cNvSpPr/>
          <p:nvPr/>
        </p:nvSpPr>
        <p:spPr>
          <a:xfrm>
            <a:off x="3543300" y="4604003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3" name="Rounded Rectangle 17422"/>
          <p:cNvSpPr/>
          <p:nvPr/>
        </p:nvSpPr>
        <p:spPr>
          <a:xfrm>
            <a:off x="685800" y="4727448"/>
            <a:ext cx="5897880" cy="45720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PREDICTION HEADS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infiltration risk  -  ATT&amp;CK stage  -  surprise</a:t>
            </a:r>
          </a:p>
        </p:txBody>
      </p:sp>
      <p:sp>
        <p:nvSpPr>
          <p:cNvPr id="17424" name="Down Arrow 17423"/>
          <p:cNvSpPr/>
          <p:nvPr/>
        </p:nvSpPr>
        <p:spPr>
          <a:xfrm>
            <a:off x="3543300" y="5198364"/>
            <a:ext cx="182880" cy="109728"/>
          </a:xfrm>
          <a:prstGeom prst="downArrow">
            <a:avLst/>
          </a:prstGeom>
          <a:solidFill>
            <a:srgbClr val="D3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Rounded Rectangle 17424"/>
          <p:cNvSpPr/>
          <p:nvPr/>
        </p:nvSpPr>
        <p:spPr>
          <a:xfrm>
            <a:off x="685800" y="5321808"/>
            <a:ext cx="5897880" cy="45720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DECISION SUPPORT   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dashboard, replay, three explanation channels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360920" y="1298448"/>
            <a:ext cx="438911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Tech stack used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7397496" y="1554480"/>
            <a:ext cx="431596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7360920" y="1755648"/>
            <a:ext cx="1931212" cy="36576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Language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9356140" y="1755648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Python 3.13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7360920" y="2171700"/>
            <a:ext cx="1931212" cy="36576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Deep learning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9356140" y="2171700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PyTorch (CPU-only)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360920" y="2587752"/>
            <a:ext cx="1931212" cy="36576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Packet parsing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356140" y="2587752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Scapy - raw PCAP, flow rebuild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7360920" y="3003804"/>
            <a:ext cx="1931212" cy="36576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 pipeline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9356140" y="3003804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pandas + NumPy, vectorised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7360920" y="3419856"/>
            <a:ext cx="1931212" cy="365760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Baselines &amp; metrics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9356140" y="3419856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scikit-learn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7360920" y="3835908"/>
            <a:ext cx="1931212" cy="365760"/>
          </a:xfrm>
          <a:prstGeom prst="roundRect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Backend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356140" y="3835908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FastAPI + Uvicorn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7360920" y="4251960"/>
            <a:ext cx="1931212" cy="365760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Frontend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356140" y="4251960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Single-file HTML, zero CDN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7360920" y="4668012"/>
            <a:ext cx="1931212" cy="365760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Explainability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9356140" y="4668012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Integrated Gradients + attention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360920" y="5084064"/>
            <a:ext cx="1931212" cy="365760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Dataset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9356140" y="5084064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CTU-13 - 13 real captures, CC BY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7360920" y="5500116"/>
            <a:ext cx="1931212" cy="365760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Deployment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356140" y="5500116"/>
            <a:ext cx="2393899" cy="36576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/>
            <a:r>
              <a:rPr sz="850" b="0">
                <a:solidFill>
                  <a:srgbClr val="333F50"/>
                </a:solidFill>
                <a:latin typeface="Arial"/>
              </a:rPr>
              <a:t>Fully offline, no external API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Validation: split by time, never randomly  -  baselines given identical features, scaler and labels  -  seeded rollouts, so the benchmark reproduces byte for byte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Feasibility of AttackForecast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Pentagon 17412"/>
          <p:cNvSpPr/>
          <p:nvPr/>
        </p:nvSpPr>
        <p:spPr>
          <a:xfrm rot="5400000">
            <a:off x="352958" y="1795881"/>
            <a:ext cx="1133856" cy="1016812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1148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Technical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CPU-only, 138k params</a:t>
            </a:r>
          </a:p>
        </p:txBody>
      </p:sp>
      <p:sp>
        <p:nvSpPr>
          <p:cNvPr id="17415" name="Pentagon 17414"/>
          <p:cNvSpPr/>
          <p:nvPr/>
        </p:nvSpPr>
        <p:spPr>
          <a:xfrm rot="5400000">
            <a:off x="1470355" y="1795881"/>
            <a:ext cx="1133856" cy="1016812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1528876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Financial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zero licence cost</a:t>
            </a:r>
          </a:p>
        </p:txBody>
      </p:sp>
      <p:sp>
        <p:nvSpPr>
          <p:cNvPr id="17417" name="Pentagon 17416"/>
          <p:cNvSpPr/>
          <p:nvPr/>
        </p:nvSpPr>
        <p:spPr>
          <a:xfrm rot="5400000">
            <a:off x="2587752" y="1795881"/>
            <a:ext cx="1133856" cy="1016812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2646273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consumes NetFlow already exported</a:t>
            </a:r>
          </a:p>
        </p:txBody>
      </p:sp>
      <p:sp>
        <p:nvSpPr>
          <p:cNvPr id="17419" name="Pentagon 17418"/>
          <p:cNvSpPr/>
          <p:nvPr/>
        </p:nvSpPr>
        <p:spPr>
          <a:xfrm rot="5400000">
            <a:off x="3705148" y="1795881"/>
            <a:ext cx="1133856" cy="1016812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3763670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Legal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data never leaves the network</a:t>
            </a:r>
          </a:p>
        </p:txBody>
      </p:sp>
      <p:sp>
        <p:nvSpPr>
          <p:cNvPr id="17421" name="Pentagon 17420"/>
          <p:cNvSpPr/>
          <p:nvPr/>
        </p:nvSpPr>
        <p:spPr>
          <a:xfrm rot="5400000">
            <a:off x="4822545" y="1795881"/>
            <a:ext cx="1133856" cy="1016812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4881067" y="1865376"/>
            <a:ext cx="1016812" cy="78638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>
              <a:spcBef>
                <a:spcPts val="200"/>
              </a:spcBef>
            </a:pPr>
            <a:r>
              <a:rPr sz="700" b="0">
                <a:solidFill>
                  <a:srgbClr val="FFFFFF"/>
                </a:solidFill>
                <a:latin typeface="Arial"/>
              </a:rPr>
              <a:t>analyst keeps the decision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11480" y="3054096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Live output from the running prototype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448056" y="3310128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g-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890" y="3474720"/>
            <a:ext cx="3595579" cy="24323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411480" y="59436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00" b="0">
                <a:solidFill>
                  <a:srgbClr val="5A6478"/>
                </a:solidFill>
                <a:latin typeface="Arial"/>
              </a:rPr>
              <a:t>3D topology - the compromised host and its malicious fan-out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263640" y="1298448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C0504D"/>
                </a:solidFill>
                <a:latin typeface="Arial"/>
              </a:rPr>
              <a:t>Potential challenges and risks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6300216" y="1554480"/>
            <a:ext cx="5413247" cy="32004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29" name="Connector 17428"/>
          <p:cNvCxnSpPr/>
          <p:nvPr/>
        </p:nvCxnSpPr>
        <p:spPr>
          <a:xfrm>
            <a:off x="691515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6263640" y="1956815"/>
            <a:ext cx="1303019" cy="402336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Label leak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626364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a metadata flag became a perfect label proxy</a:t>
            </a:r>
          </a:p>
        </p:txBody>
      </p:sp>
      <p:cxnSp>
        <p:nvCxnSpPr>
          <p:cNvPr id="17432" name="Connector 17431"/>
          <p:cNvCxnSpPr/>
          <p:nvPr/>
        </p:nvCxnSpPr>
        <p:spPr>
          <a:xfrm>
            <a:off x="830961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3" name="Rounded Rectangle 17432"/>
          <p:cNvSpPr/>
          <p:nvPr/>
        </p:nvSpPr>
        <p:spPr>
          <a:xfrm>
            <a:off x="7658100" y="1956815"/>
            <a:ext cx="1303019" cy="402336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Detection is only a tie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765810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0.979 against 0.977 for logistic regression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970407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9052560" y="1956815"/>
            <a:ext cx="1303019" cy="402336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Short-burst compromise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05256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the risk head needs sustained activity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11098530" y="1737360"/>
            <a:ext cx="0" cy="219455"/>
          </a:xfrm>
          <a:prstGeom prst="line">
            <a:avLst/>
          </a:prstGeom>
          <a:ln w="15875">
            <a:solidFill>
              <a:srgbClr val="5A64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10447020" y="1956815"/>
            <a:ext cx="1303019" cy="402336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Stages do not cross families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447020" y="2395728"/>
            <a:ext cx="1303019" cy="603504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700" b="0">
                <a:solidFill>
                  <a:srgbClr val="5A6478"/>
                </a:solidFill>
                <a:latin typeface="Arial"/>
              </a:rPr>
              <a:t>progression did not transfer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63640" y="3090672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77933C"/>
                </a:solidFill>
                <a:latin typeface="Arial"/>
              </a:rPr>
              <a:t>Strategies for overcoming these</a:t>
            </a:r>
          </a:p>
        </p:txBody>
      </p:sp>
      <p:sp>
        <p:nvSpPr>
          <p:cNvPr id="17442" name="Rectangle 17441"/>
          <p:cNvSpPr/>
          <p:nvPr/>
        </p:nvSpPr>
        <p:spPr>
          <a:xfrm>
            <a:off x="6300216" y="3346704"/>
            <a:ext cx="5413247" cy="32004"/>
          </a:xfrm>
          <a:prstGeom prst="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Can 17442"/>
          <p:cNvSpPr/>
          <p:nvPr/>
        </p:nvSpPr>
        <p:spPr>
          <a:xfrm>
            <a:off x="6445102" y="3529584"/>
            <a:ext cx="933236" cy="512064"/>
          </a:xfrm>
          <a:prstGeom prst="can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263640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Found and removed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caught in our own audit; F1 0.23 to 0.98</a:t>
            </a:r>
          </a:p>
        </p:txBody>
      </p:sp>
      <p:sp>
        <p:nvSpPr>
          <p:cNvPr id="17445" name="Can 17444"/>
          <p:cNvSpPr/>
          <p:nvPr/>
        </p:nvSpPr>
        <p:spPr>
          <a:xfrm>
            <a:off x="7841848" y="3529584"/>
            <a:ext cx="933236" cy="512064"/>
          </a:xfrm>
          <a:prstGeom prst="can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660386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Compete on forecasting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beats persistence at 9 of 10 horizons</a:t>
            </a:r>
          </a:p>
        </p:txBody>
      </p:sp>
      <p:sp>
        <p:nvSpPr>
          <p:cNvPr id="17447" name="Can 17446"/>
          <p:cNvSpPr/>
          <p:nvPr/>
        </p:nvSpPr>
        <p:spPr>
          <a:xfrm>
            <a:off x="9238594" y="3529584"/>
            <a:ext cx="933236" cy="512064"/>
          </a:xfrm>
          <a:prstGeom prst="can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057132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Second channel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unsupervised surprise covers the gap</a:t>
            </a:r>
          </a:p>
        </p:txBody>
      </p:sp>
      <p:sp>
        <p:nvSpPr>
          <p:cNvPr id="17449" name="Can 17448"/>
          <p:cNvSpPr/>
          <p:nvPr/>
        </p:nvSpPr>
        <p:spPr>
          <a:xfrm>
            <a:off x="10635340" y="3529584"/>
            <a:ext cx="933236" cy="512064"/>
          </a:xfrm>
          <a:prstGeom prst="can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453878" y="4078224"/>
            <a:ext cx="1296161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Reported, not hidden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detection transfers; progression does not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63640" y="5285231"/>
            <a:ext cx="5486399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Stage forecast macro-F1 by horizon</a:t>
            </a:r>
          </a:p>
        </p:txBody>
      </p:sp>
      <p:graphicFrame>
        <p:nvGraphicFramePr>
          <p:cNvPr id="17452" name="Table 17451"/>
          <p:cNvGraphicFramePr>
            <a:graphicFrameLocks noGrp="1"/>
          </p:cNvGraphicFramePr>
          <p:nvPr/>
        </p:nvGraphicFramePr>
        <p:xfrm>
          <a:off x="6263640" y="5705856"/>
          <a:ext cx="5522976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77824"/>
                <a:gridCol w="877824"/>
                <a:gridCol w="877824"/>
                <a:gridCol w="877824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64008" marR="45720" marT="18288" marB="18288" anchor="ctr">
                    <a:solidFill>
                      <a:srgbClr val="1F497D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World model (ours)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0.583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0.642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0.624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333F50"/>
                          </a:solidFill>
                          <a:latin typeface="Arial"/>
                        </a:rPr>
                        <a:t>0.524</a:t>
                      </a:r>
                    </a:p>
                  </a:txBody>
                  <a:tcPr marL="64008" marR="45720" marT="18288" marB="18288" anchor="ctr">
                    <a:solidFill>
                      <a:srgbClr val="E3EEE0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“nothing changes” baseline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0.473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0.474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0.455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3F50"/>
                          </a:solidFill>
                          <a:latin typeface="Arial"/>
                        </a:rPr>
                        <a:t>0.436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11480" y="1298448"/>
            <a:ext cx="11338560" cy="420624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Shifting the defender from reacting after compromise to acting during the kill chain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828800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48056" y="2084832"/>
            <a:ext cx="541324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414" name="Connector 17413"/>
          <p:cNvCxnSpPr/>
          <p:nvPr/>
        </p:nvCxnSpPr>
        <p:spPr>
          <a:xfrm flipV="1">
            <a:off x="3154680" y="2651760"/>
            <a:ext cx="0" cy="822960"/>
          </a:xfrm>
          <a:prstGeom prst="line">
            <a:avLst/>
          </a:prstGeom>
          <a:ln w="15875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2350008" y="2350008"/>
            <a:ext cx="1609344" cy="603504"/>
          </a:xfrm>
          <a:prstGeom prst="round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SOC analysts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 ranked queue, not an alert flood</a:t>
            </a:r>
          </a:p>
        </p:txBody>
      </p:sp>
      <p:cxnSp>
        <p:nvCxnSpPr>
          <p:cNvPr id="17416" name="Connector 17415"/>
          <p:cNvCxnSpPr/>
          <p:nvPr/>
        </p:nvCxnSpPr>
        <p:spPr>
          <a:xfrm flipV="1">
            <a:off x="3693860" y="3612148"/>
            <a:ext cx="1287076" cy="254309"/>
          </a:xfrm>
          <a:prstGeom prst="line">
            <a:avLst/>
          </a:prstGeom>
          <a:ln w="15875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4176264" y="3310396"/>
            <a:ext cx="1609344" cy="603504"/>
          </a:xfrm>
          <a:prstGeom prst="roundRect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Critical infrastructure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power, banking, telecom, transport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487911" y="4500302"/>
            <a:ext cx="795457" cy="665789"/>
          </a:xfrm>
          <a:prstGeom prst="line">
            <a:avLst/>
          </a:prstGeom>
          <a:ln w="15875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3478696" y="4864339"/>
            <a:ext cx="1609344" cy="603504"/>
          </a:xfrm>
          <a:prstGeom prst="roundRect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CERT-In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national response teams</a:t>
            </a:r>
          </a:p>
        </p:txBody>
      </p:sp>
      <p:cxnSp>
        <p:nvCxnSpPr>
          <p:cNvPr id="17420" name="Connector 17419"/>
          <p:cNvCxnSpPr/>
          <p:nvPr/>
        </p:nvCxnSpPr>
        <p:spPr>
          <a:xfrm flipH="1">
            <a:off x="2025991" y="4500302"/>
            <a:ext cx="795457" cy="665789"/>
          </a:xfrm>
          <a:prstGeom prst="line">
            <a:avLst/>
          </a:prstGeom>
          <a:ln w="15875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1221319" y="4864339"/>
            <a:ext cx="1609344" cy="603504"/>
          </a:xfrm>
          <a:prstGeom prst="roundRect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Enterprises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no new hardware to buy</a:t>
            </a:r>
          </a:p>
        </p:txBody>
      </p:sp>
      <p:cxnSp>
        <p:nvCxnSpPr>
          <p:cNvPr id="17422" name="Connector 17421"/>
          <p:cNvCxnSpPr/>
          <p:nvPr/>
        </p:nvCxnSpPr>
        <p:spPr>
          <a:xfrm flipH="1" flipV="1">
            <a:off x="1328423" y="3612148"/>
            <a:ext cx="1287076" cy="254309"/>
          </a:xfrm>
          <a:prstGeom prst="line">
            <a:avLst/>
          </a:prstGeom>
          <a:ln w="15875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23751" y="3310396"/>
            <a:ext cx="1609344" cy="603504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Auditors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every alert is challengeable</a:t>
            </a:r>
          </a:p>
        </p:txBody>
      </p:sp>
      <p:sp>
        <p:nvSpPr>
          <p:cNvPr id="17424" name="Oval 17423"/>
          <p:cNvSpPr/>
          <p:nvPr/>
        </p:nvSpPr>
        <p:spPr>
          <a:xfrm>
            <a:off x="2514600" y="3401568"/>
            <a:ext cx="1280160" cy="12801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AttackForecast</a:t>
            </a:r>
          </a:p>
          <a:p>
            <a:pPr algn="ctr"/>
            <a:r>
              <a:rPr sz="750" b="0">
                <a:solidFill>
                  <a:srgbClr val="FFFFFF"/>
                </a:solidFill>
                <a:latin typeface="Arial"/>
              </a:rPr>
              <a:t>10 minutes of warning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63640" y="1828800"/>
            <a:ext cx="5486399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Benefits of AttackForecast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300216" y="2084832"/>
            <a:ext cx="5413247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Donut 17426"/>
          <p:cNvSpPr/>
          <p:nvPr/>
        </p:nvSpPr>
        <p:spPr>
          <a:xfrm>
            <a:off x="8165592" y="3200400"/>
            <a:ext cx="1682496" cy="1682496"/>
          </a:xfrm>
          <a:prstGeom prst="donu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8869680" y="3181014"/>
            <a:ext cx="274320" cy="274320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147304" y="221284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4F81BD"/>
                </a:solidFill>
                <a:latin typeface="Arial"/>
              </a:rPr>
              <a:t>Early warning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4F81BD"/>
                </a:solidFill>
                <a:latin typeface="Arial"/>
              </a:rPr>
              <a:t>up to 10 minutes before the chain closes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9496226" y="3542751"/>
            <a:ext cx="274320" cy="274320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936983" y="299008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11838B"/>
                </a:solidFill>
                <a:latin typeface="Arial"/>
              </a:rPr>
              <a:t>Low noise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11838B"/>
                </a:solidFill>
                <a:latin typeface="Arial"/>
              </a:rPr>
              <a:t>4.9% false alarms across 13 captures</a:t>
            </a:r>
          </a:p>
        </p:txBody>
      </p:sp>
      <p:sp>
        <p:nvSpPr>
          <p:cNvPr id="17432" name="Oval 17431"/>
          <p:cNvSpPr/>
          <p:nvPr/>
        </p:nvSpPr>
        <p:spPr>
          <a:xfrm>
            <a:off x="9496226" y="4266224"/>
            <a:ext cx="274320" cy="274320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9936983" y="454456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E37B2A"/>
                </a:solidFill>
                <a:latin typeface="Arial"/>
              </a:rPr>
              <a:t>Auditable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E37B2A"/>
                </a:solidFill>
                <a:latin typeface="Arial"/>
              </a:rPr>
              <a:t>replay shows what the model knew, minute by minute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8869680" y="4627961"/>
            <a:ext cx="274320" cy="274320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8147304" y="532180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A45D1"/>
                </a:solidFill>
                <a:latin typeface="Arial"/>
              </a:rPr>
              <a:t>Air-gap 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A45D1"/>
                </a:solidFill>
                <a:latin typeface="Arial"/>
              </a:rPr>
              <a:t>nothing leaves the network</a:t>
            </a:r>
          </a:p>
        </p:txBody>
      </p:sp>
      <p:sp>
        <p:nvSpPr>
          <p:cNvPr id="17436" name="Oval 17435"/>
          <p:cNvSpPr/>
          <p:nvPr/>
        </p:nvSpPr>
        <p:spPr>
          <a:xfrm>
            <a:off x="8243133" y="4266224"/>
            <a:ext cx="274320" cy="274320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357624" y="4544568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77933C"/>
                </a:solidFill>
                <a:latin typeface="Arial"/>
              </a:rPr>
              <a:t>Zero licence cost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77933C"/>
                </a:solidFill>
                <a:latin typeface="Arial"/>
              </a:rPr>
              <a:t>open source, runs on existing hardware</a:t>
            </a:r>
          </a:p>
        </p:txBody>
      </p:sp>
      <p:sp>
        <p:nvSpPr>
          <p:cNvPr id="17438" name="Oval 17437"/>
          <p:cNvSpPr/>
          <p:nvPr/>
        </p:nvSpPr>
        <p:spPr>
          <a:xfrm>
            <a:off x="8243133" y="3542751"/>
            <a:ext cx="274320" cy="274320"/>
          </a:xfrm>
          <a:prstGeom prst="ellipse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357624" y="2990087"/>
            <a:ext cx="1719072" cy="56692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850" b="1">
                <a:solidFill>
                  <a:srgbClr val="C23B77"/>
                </a:solidFill>
                <a:latin typeface="Arial"/>
              </a:rPr>
              <a:t>Playbook-ready</a:t>
            </a:r>
          </a:p>
          <a:p>
            <a:pPr algn="ctr">
              <a:spcBef>
                <a:spcPts val="100"/>
              </a:spcBef>
            </a:pPr>
            <a:r>
              <a:rPr sz="700" b="0">
                <a:solidFill>
                  <a:srgbClr val="C23B77"/>
                </a:solidFill>
                <a:latin typeface="Arial"/>
              </a:rPr>
              <a:t>ATT&amp;CK stage names map onto what SOCs already use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Every claim on this deck is reproducible from the repository: one command prepares the data, one trains, one benchmarks.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900"/>
              <a:t>Git with It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1298448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Datasets, standards and prior work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48056" y="1554480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Oval 17412"/>
          <p:cNvSpPr/>
          <p:nvPr/>
        </p:nvSpPr>
        <p:spPr>
          <a:xfrm>
            <a:off x="1267358" y="1755648"/>
            <a:ext cx="438912" cy="438912"/>
          </a:xfrm>
          <a:prstGeom prst="ellips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1486814" y="2194560"/>
            <a:ext cx="0" cy="164592"/>
          </a:xfrm>
          <a:prstGeom prst="line">
            <a:avLst/>
          </a:prstGeom>
          <a:ln w="19050">
            <a:solidFill>
              <a:srgbClr val="4F81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Pentagon 17414"/>
          <p:cNvSpPr/>
          <p:nvPr/>
        </p:nvSpPr>
        <p:spPr>
          <a:xfrm rot="5400000">
            <a:off x="581558" y="2189073"/>
            <a:ext cx="1810512" cy="2150668"/>
          </a:xfrm>
          <a:prstGeom prst="homePlate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502920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CTU-13 Dataset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Stratosphere IPS, CTU Prague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13 real botnet captures, CC BY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Garcia et al., Computers &amp;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Security, 2014</a:t>
            </a:r>
          </a:p>
        </p:txBody>
      </p:sp>
      <p:sp>
        <p:nvSpPr>
          <p:cNvPr id="17417" name="Oval 17416"/>
          <p:cNvSpPr/>
          <p:nvPr/>
        </p:nvSpPr>
        <p:spPr>
          <a:xfrm>
            <a:off x="3564331" y="1755648"/>
            <a:ext cx="438912" cy="438912"/>
          </a:xfrm>
          <a:prstGeom prst="ellips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3783787" y="2194560"/>
            <a:ext cx="0" cy="164592"/>
          </a:xfrm>
          <a:prstGeom prst="line">
            <a:avLst/>
          </a:prstGeom>
          <a:ln w="19050">
            <a:solidFill>
              <a:srgbClr val="1183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Pentagon 17418"/>
          <p:cNvSpPr/>
          <p:nvPr/>
        </p:nvSpPr>
        <p:spPr>
          <a:xfrm rot="5400000">
            <a:off x="2878531" y="2189073"/>
            <a:ext cx="1810512" cy="2150668"/>
          </a:xfrm>
          <a:prstGeom prst="homePlate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2799892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MITRE ATT&amp;CK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Enterprise Matrix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TA0043 Reconnaissance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TA0001 / TA0008 / TA0011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TA0010 Exfiltration</a:t>
            </a:r>
          </a:p>
        </p:txBody>
      </p:sp>
      <p:sp>
        <p:nvSpPr>
          <p:cNvPr id="17421" name="Oval 17420"/>
          <p:cNvSpPr/>
          <p:nvPr/>
        </p:nvSpPr>
        <p:spPr>
          <a:xfrm>
            <a:off x="5861304" y="1755648"/>
            <a:ext cx="438912" cy="438912"/>
          </a:xfrm>
          <a:prstGeom prst="ellips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6080760" y="2194560"/>
            <a:ext cx="0" cy="164592"/>
          </a:xfrm>
          <a:prstGeom prst="line">
            <a:avLst/>
          </a:prstGeom>
          <a:ln w="19050">
            <a:solidFill>
              <a:srgbClr val="E37B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Pentagon 17422"/>
          <p:cNvSpPr/>
          <p:nvPr/>
        </p:nvSpPr>
        <p:spPr>
          <a:xfrm rot="5400000">
            <a:off x="5175504" y="2189073"/>
            <a:ext cx="1810512" cy="2150668"/>
          </a:xfrm>
          <a:prstGeom prst="homePlate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096865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World models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 &amp; Schmidhuber,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World Models, NeurIPS 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PlaNet, ICML 2019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Hafner et al., Dreamer, ICLR 2020</a:t>
            </a:r>
          </a:p>
        </p:txBody>
      </p:sp>
      <p:sp>
        <p:nvSpPr>
          <p:cNvPr id="17425" name="Oval 17424"/>
          <p:cNvSpPr/>
          <p:nvPr/>
        </p:nvSpPr>
        <p:spPr>
          <a:xfrm>
            <a:off x="8158276" y="1755648"/>
            <a:ext cx="438912" cy="438912"/>
          </a:xfrm>
          <a:prstGeom prst="ellips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cxnSp>
        <p:nvCxnSpPr>
          <p:cNvPr id="17426" name="Connector 17425"/>
          <p:cNvCxnSpPr/>
          <p:nvPr/>
        </p:nvCxnSpPr>
        <p:spPr>
          <a:xfrm>
            <a:off x="8377732" y="2194560"/>
            <a:ext cx="0" cy="164592"/>
          </a:xfrm>
          <a:prstGeom prst="line">
            <a:avLst/>
          </a:prstGeom>
          <a:ln w="19050">
            <a:solidFill>
              <a:srgbClr val="7A45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Pentagon 17426"/>
          <p:cNvSpPr/>
          <p:nvPr/>
        </p:nvSpPr>
        <p:spPr>
          <a:xfrm rot="5400000">
            <a:off x="7472476" y="2189073"/>
            <a:ext cx="1810512" cy="2150668"/>
          </a:xfrm>
          <a:prstGeom prst="homePlate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7393838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Explainability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Sundararajan et al.,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Integrated Gradients, ICML 2017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Vaswani et al., Attention Is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All You Need, NeurIPS 2017</a:t>
            </a:r>
          </a:p>
        </p:txBody>
      </p:sp>
      <p:sp>
        <p:nvSpPr>
          <p:cNvPr id="17429" name="Oval 17428"/>
          <p:cNvSpPr/>
          <p:nvPr/>
        </p:nvSpPr>
        <p:spPr>
          <a:xfrm>
            <a:off x="10455249" y="1755648"/>
            <a:ext cx="438912" cy="438912"/>
          </a:xfrm>
          <a:prstGeom prst="ellips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cxnSp>
        <p:nvCxnSpPr>
          <p:cNvPr id="17430" name="Connector 17429"/>
          <p:cNvCxnSpPr/>
          <p:nvPr/>
        </p:nvCxnSpPr>
        <p:spPr>
          <a:xfrm>
            <a:off x="10674705" y="2194560"/>
            <a:ext cx="0" cy="164592"/>
          </a:xfrm>
          <a:prstGeom prst="line">
            <a:avLst/>
          </a:prstGeom>
          <a:ln w="19050">
            <a:solidFill>
              <a:srgbClr val="7793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1" name="Pentagon 17430"/>
          <p:cNvSpPr/>
          <p:nvPr/>
        </p:nvSpPr>
        <p:spPr>
          <a:xfrm rot="5400000">
            <a:off x="9769449" y="2189073"/>
            <a:ext cx="1810512" cy="2150668"/>
          </a:xfrm>
          <a:prstGeom prst="homePlate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2" name="TextBox 17431"/>
          <p:cNvSpPr txBox="1"/>
          <p:nvPr/>
        </p:nvSpPr>
        <p:spPr>
          <a:xfrm>
            <a:off x="9690811" y="2487168"/>
            <a:ext cx="1967788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National context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NCIIPC - nciipc.gov.in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CIC-IDS2017 / CSE-CIC-IDS2018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reviewed; access now gated</a:t>
            </a:r>
          </a:p>
          <a:p>
            <a:pPr algn="ctr">
              <a:spcBef>
                <a:spcPts val="200"/>
              </a:spcBef>
            </a:pPr>
            <a:r>
              <a:rPr sz="750" b="0">
                <a:solidFill>
                  <a:srgbClr val="FFFFFF"/>
                </a:solidFill>
                <a:latin typeface="Arial"/>
              </a:rPr>
              <a:t>behind registration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11480" y="4443983"/>
            <a:ext cx="1133856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>
                <a:solidFill>
                  <a:srgbClr val="1F497D"/>
                </a:solidFill>
                <a:latin typeface="Arial"/>
              </a:rPr>
              <a:t>Built with</a:t>
            </a:r>
          </a:p>
        </p:txBody>
      </p:sp>
      <p:sp>
        <p:nvSpPr>
          <p:cNvPr id="17434" name="Rectangle 17433"/>
          <p:cNvSpPr/>
          <p:nvPr/>
        </p:nvSpPr>
        <p:spPr>
          <a:xfrm>
            <a:off x="448056" y="4700016"/>
            <a:ext cx="11265408" cy="32004"/>
          </a:xfrm>
          <a:prstGeom prst="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Folded Corner 17434"/>
          <p:cNvSpPr/>
          <p:nvPr/>
        </p:nvSpPr>
        <p:spPr>
          <a:xfrm>
            <a:off x="411480" y="4882896"/>
            <a:ext cx="1541417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Python 3.13</a:t>
            </a:r>
          </a:p>
        </p:txBody>
      </p:sp>
      <p:sp>
        <p:nvSpPr>
          <p:cNvPr id="17436" name="Folded Corner 17435"/>
          <p:cNvSpPr/>
          <p:nvPr/>
        </p:nvSpPr>
        <p:spPr>
          <a:xfrm>
            <a:off x="2044337" y="4882896"/>
            <a:ext cx="1541417" cy="621792"/>
          </a:xfrm>
          <a:prstGeom prst="foldedCorner">
            <a:avLst/>
          </a:prstGeom>
          <a:solidFill>
            <a:srgbClr val="1183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PyTorch</a:t>
            </a:r>
          </a:p>
        </p:txBody>
      </p:sp>
      <p:sp>
        <p:nvSpPr>
          <p:cNvPr id="17437" name="Folded Corner 17436"/>
          <p:cNvSpPr/>
          <p:nvPr/>
        </p:nvSpPr>
        <p:spPr>
          <a:xfrm>
            <a:off x="3677194" y="4882896"/>
            <a:ext cx="1541417" cy="621792"/>
          </a:xfrm>
          <a:prstGeom prst="foldedCorner">
            <a:avLst/>
          </a:prstGeom>
          <a:solidFill>
            <a:srgbClr val="E37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Scapy</a:t>
            </a:r>
          </a:p>
        </p:txBody>
      </p:sp>
      <p:sp>
        <p:nvSpPr>
          <p:cNvPr id="17438" name="Folded Corner 17437"/>
          <p:cNvSpPr/>
          <p:nvPr/>
        </p:nvSpPr>
        <p:spPr>
          <a:xfrm>
            <a:off x="5310051" y="4882896"/>
            <a:ext cx="1541417" cy="621792"/>
          </a:xfrm>
          <a:prstGeom prst="foldedCorner">
            <a:avLst/>
          </a:prstGeom>
          <a:solidFill>
            <a:srgbClr val="7A4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pandas + NumPy</a:t>
            </a:r>
          </a:p>
        </p:txBody>
      </p:sp>
      <p:sp>
        <p:nvSpPr>
          <p:cNvPr id="17439" name="Folded Corner 17438"/>
          <p:cNvSpPr/>
          <p:nvPr/>
        </p:nvSpPr>
        <p:spPr>
          <a:xfrm>
            <a:off x="6942908" y="4882896"/>
            <a:ext cx="1541417" cy="621792"/>
          </a:xfrm>
          <a:prstGeom prst="foldedCorner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scikit-learn</a:t>
            </a:r>
          </a:p>
        </p:txBody>
      </p:sp>
      <p:sp>
        <p:nvSpPr>
          <p:cNvPr id="17440" name="Folded Corner 17439"/>
          <p:cNvSpPr/>
          <p:nvPr/>
        </p:nvSpPr>
        <p:spPr>
          <a:xfrm>
            <a:off x="8575765" y="4882896"/>
            <a:ext cx="1541417" cy="621792"/>
          </a:xfrm>
          <a:prstGeom prst="foldedCorner">
            <a:avLst/>
          </a:prstGeom>
          <a:solidFill>
            <a:srgbClr val="C23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FastAPI</a:t>
            </a:r>
          </a:p>
        </p:txBody>
      </p:sp>
      <p:sp>
        <p:nvSpPr>
          <p:cNvPr id="17441" name="Folded Corner 17440"/>
          <p:cNvSpPr/>
          <p:nvPr/>
        </p:nvSpPr>
        <p:spPr>
          <a:xfrm>
            <a:off x="10208622" y="4882896"/>
            <a:ext cx="1541417" cy="621792"/>
          </a:xfrm>
          <a:prstGeom prst="foldedCorner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Integrated Gradients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11480" y="5376672"/>
            <a:ext cx="11338560" cy="402336"/>
          </a:xfrm>
          <a:prstGeom prst="roundRect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Problem Statement 26153 (NTRO)  -  AI based Network Attack Forecasting from Network Traffic Data  -  Blockchain &amp; Cybersecurity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411480" y="5815583"/>
            <a:ext cx="11338560" cy="402336"/>
          </a:xfrm>
          <a:prstGeom prst="roundRect">
            <a:avLst/>
          </a:prstGeom>
          <a:solidFill>
            <a:srgbClr val="7793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Source, data preparation and benchmark: github.com/HowSuyash/AttackForecast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