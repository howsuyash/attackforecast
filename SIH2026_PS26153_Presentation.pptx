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Problem Statement ID – </a:t>
            </a:r>
            <a:r>
              <a:rPr sz="1300">
                <a:solidFill>
                  <a:srgbClr val="333F50"/>
                </a:solidFill>
                <a:latin typeface="Arial"/>
              </a:rPr>
              <a:t>26153</a:t>
            </a:r>
            <a:endParaRPr lang="en-US" dirty="0"/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Problem Statement Title – </a:t>
            </a:r>
            <a:r>
              <a:rPr sz="1300">
                <a:solidFill>
                  <a:srgbClr val="333F50"/>
                </a:solidFill>
                <a:latin typeface="Arial"/>
              </a:rPr>
              <a:t>AI based Network Attack Forecasting from Network Traffic Data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Theme – </a:t>
            </a:r>
            <a:r>
              <a:rPr sz="1300">
                <a:solidFill>
                  <a:srgbClr val="333F50"/>
                </a:solidFill>
                <a:latin typeface="Arial"/>
              </a:rPr>
              <a:t>Blockchain &amp; Cybersecurity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PS Category – </a:t>
            </a:r>
            <a:r>
              <a:rPr sz="1300">
                <a:solidFill>
                  <a:srgbClr val="333F50"/>
                </a:solidFill>
                <a:latin typeface="Arial"/>
              </a:rPr>
              <a:t>Software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Organisation – </a:t>
            </a:r>
            <a:r>
              <a:rPr sz="1300">
                <a:solidFill>
                  <a:srgbClr val="333F50"/>
                </a:solidFill>
                <a:latin typeface="Arial"/>
              </a:rPr>
              <a:t>National Technical Research Organisation (NTRO)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Team ID – </a:t>
            </a:r>
            <a:r>
              <a:rPr sz="1300">
                <a:solidFill>
                  <a:srgbClr val="333F50"/>
                </a:solidFill>
                <a:latin typeface="Arial"/>
              </a:rPr>
              <a:t>[Team ID]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Team Name – </a:t>
            </a:r>
            <a:r>
              <a:rPr sz="1300">
                <a:solidFill>
                  <a:srgbClr val="333F50"/>
                </a:solidFill>
                <a:latin typeface="Arial"/>
              </a:rPr>
              <a:t>Git with It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3600" b="1">
                <a:latin typeface="Times New Roman"/>
              </a:rPr>
              <a:t>PREDICTIVE CYBER DEFENCE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Git with It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411480" y="1298448"/>
            <a:ext cx="11338560" cy="566928"/>
          </a:xfrm>
          <a:prstGeom prst="round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We do not classify traffic — we learn how a network's state evolves, then run that model forward to see where a host is heading.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11480" y="2029967"/>
            <a:ext cx="3611880" cy="329184"/>
          </a:xfrm>
          <a:prstGeom prst="round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Proposed Solution</a:t>
            </a:r>
          </a:p>
        </p:txBody>
      </p:sp>
      <p:sp>
        <p:nvSpPr>
          <p:cNvPr id="15365" name="Rectangle 15364"/>
          <p:cNvSpPr/>
          <p:nvPr/>
        </p:nvSpPr>
        <p:spPr>
          <a:xfrm>
            <a:off x="411480" y="2359151"/>
            <a:ext cx="3611880" cy="2980944"/>
          </a:xfrm>
          <a:prstGeom prst="rect">
            <a:avLst/>
          </a:prstGeom>
          <a:solidFill>
            <a:srgbClr val="F2F5FA"/>
          </a:solidFill>
          <a:ln w="9525">
            <a:solidFill>
              <a:srgbClr val="D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tIns="100584"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Traffic → 60-second windows; each becomes a 39-feature snapshot of one host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A world model learns the transition: what state usually follows this state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Stop feeding it traffic — it generates the next 10 states on its own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Each imagined state is scored: infiltration risk + MITRE ATT&amp;CK stage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251960" y="2029967"/>
            <a:ext cx="3611880" cy="329184"/>
          </a:xfrm>
          <a:prstGeom prst="round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4251960" y="2359151"/>
            <a:ext cx="3611880" cy="2980944"/>
          </a:xfrm>
          <a:prstGeom prst="rect">
            <a:avLst/>
          </a:prstGeom>
          <a:solidFill>
            <a:srgbClr val="F2F5FA"/>
          </a:solidFill>
          <a:ln w="9525">
            <a:solidFill>
              <a:srgbClr val="D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tIns="100584"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Answers “where is this host heading”, not “was that flow bad”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10-minute lookahead — acts before the kill chain closes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Flow-level and packet-level features together: TTL variance, TCP window, retransmissions, scan signatures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Every alert carries three explanations — no black box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8092440" y="2029967"/>
            <a:ext cx="3611880" cy="329184"/>
          </a:xfrm>
          <a:prstGeom prst="roundRect">
            <a:avLst/>
          </a:prstGeom>
          <a:solidFill>
            <a:srgbClr val="779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Innovation and Uniqueness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8092440" y="2359151"/>
            <a:ext cx="3611880" cy="2980944"/>
          </a:xfrm>
          <a:prstGeom prst="rect">
            <a:avLst/>
          </a:prstGeom>
          <a:solidFill>
            <a:srgbClr val="F2F5FA"/>
          </a:solidFill>
          <a:ln w="9525">
            <a:solidFill>
              <a:srgbClr val="D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tIns="100584"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World model, not a classifier — the heads read the latent state, so they still work on imagined states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Provable: an imagination-only loss yields zero encoder gradient (asserted in our test suite)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ATT&amp;CK stages derived from CTU-13's own flow annotations, not hand-waved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Runs fully offline on CPU — 138k parameters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411480" y="5522976"/>
            <a:ext cx="11338560" cy="512064"/>
          </a:xfrm>
          <a:prstGeom prst="roundRect">
            <a:avLst/>
          </a:prstGeom>
          <a:solidFill>
            <a:srgbClr val="779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Working prototype today  •  95,518 network states from 2.8M real flows  •  F1 0.984 vs 0.744 for the strongest baseline  •  149 hosts triaged in 0.5 s  •  minute-by-minute replay of the forecast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Git with It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11480" y="1335024"/>
            <a:ext cx="1615440" cy="868680"/>
          </a:xfrm>
          <a:prstGeom prst="round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Ingest</a:t>
            </a:r>
          </a:p>
          <a:p>
            <a:pPr algn="ctr"/>
            <a:r>
              <a:rPr sz="850">
                <a:solidFill>
                  <a:srgbClr val="E4ECF7"/>
                </a:solidFill>
                <a:latin typeface="Arial"/>
              </a:rPr>
              <a:t>NetFlow / PCAP
(Scapy)</a:t>
            </a:r>
          </a:p>
        </p:txBody>
      </p:sp>
      <p:sp>
        <p:nvSpPr>
          <p:cNvPr id="17412" name="Right Arrow 17411"/>
          <p:cNvSpPr/>
          <p:nvPr/>
        </p:nvSpPr>
        <p:spPr>
          <a:xfrm>
            <a:off x="2090928" y="1668780"/>
            <a:ext cx="201168" cy="201168"/>
          </a:xfrm>
          <a:prstGeom prst="rightArrow">
            <a:avLst/>
          </a:prstGeom>
          <a:solidFill>
            <a:srgbClr val="B8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2356104" y="1335024"/>
            <a:ext cx="1615440" cy="868680"/>
          </a:xfrm>
          <a:prstGeom prst="round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Feature extraction</a:t>
            </a:r>
          </a:p>
          <a:p>
            <a:pPr algn="ctr"/>
            <a:r>
              <a:rPr sz="850">
                <a:solidFill>
                  <a:srgbClr val="E4ECF7"/>
                </a:solidFill>
                <a:latin typeface="Arial"/>
              </a:rPr>
              <a:t>39 flow + 23 packet
features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4035552" y="1668780"/>
            <a:ext cx="201168" cy="201168"/>
          </a:xfrm>
          <a:prstGeom prst="rightArrow">
            <a:avLst/>
          </a:prstGeom>
          <a:solidFill>
            <a:srgbClr val="B8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4300728" y="1335024"/>
            <a:ext cx="1615440" cy="868680"/>
          </a:xfrm>
          <a:prstGeom prst="round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Network state</a:t>
            </a:r>
          </a:p>
          <a:p>
            <a:pPr algn="ctr"/>
            <a:r>
              <a:rPr sz="850">
                <a:solidFill>
                  <a:srgbClr val="E4ECF7"/>
                </a:solidFill>
                <a:latin typeface="Arial"/>
              </a:rPr>
              <a:t>60-second
(host, window) cells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5980176" y="1668780"/>
            <a:ext cx="201168" cy="201168"/>
          </a:xfrm>
          <a:prstGeom prst="rightArrow">
            <a:avLst/>
          </a:prstGeom>
          <a:solidFill>
            <a:srgbClr val="B8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6245352" y="1335024"/>
            <a:ext cx="1615440" cy="868680"/>
          </a:xfrm>
          <a:prstGeom prst="round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World model</a:t>
            </a:r>
          </a:p>
          <a:p>
            <a:pPr algn="ctr"/>
            <a:r>
              <a:rPr sz="850">
                <a:solidFill>
                  <a:srgbClr val="E4ECF7"/>
                </a:solidFill>
                <a:latin typeface="Arial"/>
              </a:rPr>
              <a:t>Encoder → GRU →
prior / posterior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7924800" y="1668780"/>
            <a:ext cx="201168" cy="201168"/>
          </a:xfrm>
          <a:prstGeom prst="rightArrow">
            <a:avLst/>
          </a:prstGeom>
          <a:solidFill>
            <a:srgbClr val="B8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8189976" y="1335024"/>
            <a:ext cx="1615440" cy="868680"/>
          </a:xfrm>
          <a:prstGeom prst="round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Forward simulation</a:t>
            </a:r>
          </a:p>
          <a:p>
            <a:pPr algn="ctr"/>
            <a:r>
              <a:rPr sz="850">
                <a:solidFill>
                  <a:srgbClr val="E4ECF7"/>
                </a:solidFill>
                <a:latin typeface="Arial"/>
              </a:rPr>
              <a:t>10 imagined states
+ uncertainty band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9869424" y="1668780"/>
            <a:ext cx="201168" cy="201168"/>
          </a:xfrm>
          <a:prstGeom prst="rightArrow">
            <a:avLst/>
          </a:prstGeom>
          <a:solidFill>
            <a:srgbClr val="B8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10134600" y="1335024"/>
            <a:ext cx="1615440" cy="868680"/>
          </a:xfrm>
          <a:prstGeom prst="round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Decision support</a:t>
            </a:r>
          </a:p>
          <a:p>
            <a:pPr algn="ctr"/>
            <a:r>
              <a:rPr sz="850">
                <a:solidFill>
                  <a:srgbClr val="E4ECF7"/>
                </a:solidFill>
                <a:latin typeface="Arial"/>
              </a:rPr>
              <a:t>Risk • ATT&amp;CK stage
• explanations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11480" y="2423160"/>
            <a:ext cx="3657600" cy="329184"/>
          </a:xfrm>
          <a:prstGeom prst="round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Technologies Used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411480" y="2752344"/>
            <a:ext cx="3657600" cy="2734056"/>
          </a:xfrm>
          <a:prstGeom prst="rect">
            <a:avLst/>
          </a:prstGeom>
          <a:solidFill>
            <a:srgbClr val="F2F5FA"/>
          </a:solidFill>
          <a:ln w="9525">
            <a:solidFill>
              <a:srgbClr val="D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tIns="100584"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Python 3.13, PyTorch (CPU-only)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Scapy — raw PCAP parsing, flow reconstruction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pandas / NumPy — vectorised feature pipeline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scikit-learn — baselines and metrics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FastAPI + zero-dependency HTML dashboard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100% open source • no cloud, no external API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270248" y="2423160"/>
            <a:ext cx="3657600" cy="329184"/>
          </a:xfrm>
          <a:prstGeom prst="round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Model — Recurrent State-Space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4270248" y="2752344"/>
            <a:ext cx="3657600" cy="2734056"/>
          </a:xfrm>
          <a:prstGeom prst="rect">
            <a:avLst/>
          </a:prstGeom>
          <a:solidFill>
            <a:srgbClr val="F2F5FA"/>
          </a:solidFill>
          <a:ln w="9525">
            <a:solidFill>
              <a:srgbClr val="D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tIns="100584"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Encoder compresses each window into a latent state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GRU carries context; a prior predicts the next latent without seeing traffic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Decoder reconstructs traffic, so the latent must encode real network state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Trained on its own rollouts, so multi-step forecasting is learned, not hoped for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Causal attention — masked so no step sees its future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8129015" y="2423160"/>
            <a:ext cx="3657600" cy="329184"/>
          </a:xfrm>
          <a:prstGeom prst="roundRect">
            <a:avLst/>
          </a:prstGeom>
          <a:solidFill>
            <a:srgbClr val="779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Methodology and Validation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8129015" y="2752344"/>
            <a:ext cx="3657600" cy="2734056"/>
          </a:xfrm>
          <a:prstGeom prst="rect">
            <a:avLst/>
          </a:prstGeom>
          <a:solidFill>
            <a:srgbClr val="F2F5FA"/>
          </a:solidFill>
          <a:ln w="9525">
            <a:solidFill>
              <a:srgbClr val="D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tIns="100584"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Dataset: CTU-13 (13 real botnet captures, CC BY)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Split by time, never randomly — train on each capture's past, test on its future, with a guard band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Baselines given identical features, scaler and labels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Deterministic inference + seeded rollouts — the benchmark reproduces byte for byte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Test suites for model shapes and PCAP header parsing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11480" y="5632704"/>
            <a:ext cx="11338560" cy="402336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Offline dashboard: minute-by-minute replay of the forecast  •  kill-chain timeline  •  network topology  •  three explanation channels per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Git with It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11480" y="1298448"/>
            <a:ext cx="5623560" cy="402336"/>
          </a:xfrm>
          <a:prstGeom prst="round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Feasibility — already built and measured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411480" y="1792224"/>
          <a:ext cx="56235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1005840"/>
                <a:gridCol w="1005840"/>
                <a:gridCol w="10058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Model (temporal split)</a:t>
                      </a:r>
                    </a:p>
                  </a:txBody>
                  <a:tcPr marL="64008" marR="45720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marL="64008" marR="45720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FPR</a:t>
                      </a:r>
                    </a:p>
                  </a:txBody>
                  <a:tcPr marL="64008" marR="45720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L="64008" marR="45720" marT="18288" marB="18288" anchor="ctr">
                    <a:solidFill>
                      <a:srgbClr val="1F497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F50"/>
                          </a:solidFill>
                          <a:latin typeface="Arial"/>
                        </a:rPr>
                        <a:t>World model (ours)</a:t>
                      </a:r>
                    </a:p>
                  </a:txBody>
                  <a:tcPr marL="64008" marR="45720" marT="18288" marB="18288" anchor="ctr">
                    <a:solidFill>
                      <a:srgbClr val="E3EE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33F50"/>
                          </a:solidFill>
                          <a:latin typeface="Arial"/>
                        </a:rPr>
                        <a:t>0.984</a:t>
                      </a:r>
                    </a:p>
                  </a:txBody>
                  <a:tcPr marL="64008" marR="45720" marT="18288" marB="18288" anchor="ctr">
                    <a:solidFill>
                      <a:srgbClr val="E3EE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33F50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64008" marR="45720" marT="18288" marB="18288" anchor="ctr">
                    <a:solidFill>
                      <a:srgbClr val="E3EE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33F50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64008" marR="45720" marT="18288" marB="18288" anchor="ctr">
                    <a:solidFill>
                      <a:srgbClr val="E3EEE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F50"/>
                          </a:solidFill>
                          <a:latin typeface="Arial"/>
                        </a:rPr>
                        <a:t>Logistic regression, 8-window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F50"/>
                          </a:solidFill>
                          <a:latin typeface="Arial"/>
                        </a:rPr>
                        <a:t>0.744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F50"/>
                          </a:solidFill>
                          <a:latin typeface="Arial"/>
                        </a:rPr>
                        <a:t>0.004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F50"/>
                          </a:solidFill>
                          <a:latin typeface="Arial"/>
                        </a:rPr>
                        <a:t>0.912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F50"/>
                          </a:solidFill>
                          <a:latin typeface="Arial"/>
                        </a:rPr>
                        <a:t>Logistic regression, 1 window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F50"/>
                          </a:solidFill>
                          <a:latin typeface="Arial"/>
                        </a:rPr>
                        <a:t>0.550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F50"/>
                          </a:solidFill>
                          <a:latin typeface="Arial"/>
                        </a:rPr>
                        <a:t>0.009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F50"/>
                          </a:solidFill>
                          <a:latin typeface="Arial"/>
                        </a:rPr>
                        <a:t>0.842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3" name="Rounded Rectangle 17412"/>
          <p:cNvSpPr/>
          <p:nvPr/>
        </p:nvSpPr>
        <p:spPr>
          <a:xfrm>
            <a:off x="411480" y="3346704"/>
            <a:ext cx="5623560" cy="329184"/>
          </a:xfrm>
          <a:prstGeom prst="round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Why it is deployable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411480" y="3675888"/>
            <a:ext cx="5623560" cy="2523744"/>
          </a:xfrm>
          <a:prstGeom prst="rect">
            <a:avLst/>
          </a:prstGeom>
          <a:solidFill>
            <a:srgbClr val="F2F5FA"/>
          </a:solidFill>
          <a:ln w="9525">
            <a:solidFill>
              <a:srgbClr val="D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tIns="100584" wrap="square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F50"/>
                </a:solidFill>
                <a:latin typeface="Arial"/>
              </a:rPr>
              <a:t>• Runs on a laptop CPU — no GPU, no cloud, no licence cost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F50"/>
                </a:solidFill>
                <a:latin typeface="Arial"/>
              </a:rPr>
              <a:t>• Consumes NetFlow/IPFIX that enterprises already export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F50"/>
                </a:solidFill>
                <a:latin typeface="Arial"/>
              </a:rPr>
              <a:t>• Sub-second triage of a full capture after first load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F50"/>
                </a:solidFill>
                <a:latin typeface="Arial"/>
              </a:rPr>
              <a:t>• Fully offline — suitable for air-gapped Critical Information Infrastructure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F50"/>
                </a:solidFill>
                <a:latin typeface="Arial"/>
              </a:rPr>
              <a:t>• MITRE stage macro-F1 0.455 vs 0.353; beats a persistence baseline at 9 of 10 forecast horizons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F50"/>
                </a:solidFill>
                <a:latin typeface="Arial"/>
              </a:rPr>
              <a:t>• Replay reconstructs what the model knew at every minute, so an analyst can audit a decision after the fact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355080" y="1298448"/>
            <a:ext cx="5394959" cy="329184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Potential Challenges and Risks  →  Our Mitigation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6355080" y="1627631"/>
            <a:ext cx="5394959" cy="2139696"/>
          </a:xfrm>
          <a:prstGeom prst="rect">
            <a:avLst/>
          </a:prstGeom>
          <a:solidFill>
            <a:srgbClr val="F2F5FA"/>
          </a:solidFill>
          <a:ln w="9525">
            <a:solidFill>
              <a:srgbClr val="D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tIns="100584" wrap="square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97D"/>
                </a:solidFill>
                <a:latin typeface="Arial"/>
              </a:rPr>
              <a:t>Label leak through metadata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5A6478"/>
                </a:solidFill>
                <a:latin typeface="Arial"/>
              </a:rPr>
              <a:t>    The available PCAP held only botnet traffic, so a “packet data present” flag became a perfect label proxy → detected it, removed it; F1 rose 0.23 → 0.98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97D"/>
                </a:solidFill>
                <a:latin typeface="Arial"/>
              </a:rPr>
              <a:t>Dataset has no pre-infection baseline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5A6478"/>
                </a:solidFill>
                <a:latin typeface="Arial"/>
              </a:rPr>
              <a:t>    CTU-13 hosts are malicious in every window → we forecast kill-chain progression instead, and say so plainly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97D"/>
                </a:solidFill>
                <a:latin typeface="Arial"/>
              </a:rPr>
              <a:t>Generalising to unseen malware families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5A6478"/>
                </a:solidFill>
                <a:latin typeface="Arial"/>
              </a:rPr>
              <a:t>    Only ~4 infected hosts to learn from → reported as a measured limitation, not hidden; needs more captures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F497D"/>
                </a:solidFill>
                <a:latin typeface="Arial"/>
              </a:rPr>
              <a:t>Class imbalance (0.8% positive)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5A6478"/>
                </a:solidFill>
                <a:latin typeface="Arial"/>
              </a:rPr>
              <a:t>    Transition-aware weighted sampling + noise augmentation + a deliberately small model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355080" y="3858768"/>
            <a:ext cx="5394959" cy="256032"/>
          </a:xfrm>
          <a:prstGeom prst="roundRect">
            <a:avLst/>
          </a:prstGeom>
          <a:solidFill>
            <a:srgbClr val="779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Live output — the compromised host and its malicious fan-out</a:t>
            </a:r>
          </a:p>
        </p:txBody>
      </p:sp>
      <p:pic>
        <p:nvPicPr>
          <p:cNvPr id="17418" name="Picture 17417" descr="topology-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178807"/>
            <a:ext cx="5394959" cy="202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Git with It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11480" y="1298448"/>
            <a:ext cx="11338560" cy="512064"/>
          </a:xfrm>
          <a:prstGeom prst="round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Shifting the defender from reacting after compromise to acting during the kill chain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956815"/>
            <a:ext cx="3611880" cy="329184"/>
          </a:xfrm>
          <a:prstGeom prst="round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Who Benefits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411480" y="2285999"/>
            <a:ext cx="3611880" cy="2889504"/>
          </a:xfrm>
          <a:prstGeom prst="rect">
            <a:avLst/>
          </a:prstGeom>
          <a:solidFill>
            <a:srgbClr val="F2F5FA"/>
          </a:solidFill>
          <a:ln w="9525">
            <a:solidFill>
              <a:srgbClr val="D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tIns="100584"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SOC analysts — a ranked queue instead of an alert flood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Critical Information Infrastructure: power, banking, telecom, transport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CERT-In and national response teams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Enterprises already exporting NetFlow, with no new hardware to buy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51960" y="1956815"/>
            <a:ext cx="3611880" cy="329184"/>
          </a:xfrm>
          <a:prstGeom prst="round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Operational Benefits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4251960" y="2285999"/>
            <a:ext cx="3611880" cy="2889504"/>
          </a:xfrm>
          <a:prstGeom prst="rect">
            <a:avLst/>
          </a:prstGeom>
          <a:solidFill>
            <a:srgbClr val="F2F5FA"/>
          </a:solidFill>
          <a:ln w="9525">
            <a:solidFill>
              <a:srgbClr val="D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tIns="100584"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Up to 10 minutes of warning before the kill chain closes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False positive rate 0.000 on the held-out period — analyst time is not wasted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Replay lets an analyst rewind an incident minute by minute and see what the model knew, when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Explanations make alerts auditable and challengeable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ATT&amp;CK stage names map onto existing playbooks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092440" y="1956815"/>
            <a:ext cx="3611880" cy="329184"/>
          </a:xfrm>
          <a:prstGeom prst="roundRect">
            <a:avLst/>
          </a:prstGeom>
          <a:solidFill>
            <a:srgbClr val="779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Strategic and Economic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8092440" y="2285999"/>
            <a:ext cx="3611880" cy="2889504"/>
          </a:xfrm>
          <a:prstGeom prst="rect">
            <a:avLst/>
          </a:prstGeom>
          <a:solidFill>
            <a:srgbClr val="F2F5FA"/>
          </a:solidFill>
          <a:ln w="9525">
            <a:solidFill>
              <a:srgbClr val="D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tIns="100584"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Fully indigenous, open-source — no foreign vendor dependency for national infrastructure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Zero licence cost; runs on existing hardware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Air-gap friendly — nothing leaves the network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F50"/>
                </a:solidFill>
                <a:latin typeface="Arial"/>
              </a:rPr>
              <a:t>• Earlier detection cuts breach cost, downtime and data loss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11480" y="5358384"/>
            <a:ext cx="11338560" cy="512064"/>
          </a:xfrm>
          <a:prstGeom prst="roundRect">
            <a:avLst/>
          </a:prstGeom>
          <a:solidFill>
            <a:srgbClr val="779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Every claim on this deck is reproducible from the repository: one command prepares the data, one trains, one benchmarks.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Git with It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11480" y="1298448"/>
            <a:ext cx="5623560" cy="329184"/>
          </a:xfrm>
          <a:prstGeom prst="round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Datasets and Knowledge Bases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411480" y="1627631"/>
            <a:ext cx="5623560" cy="4553712"/>
          </a:xfrm>
          <a:prstGeom prst="rect">
            <a:avLst/>
          </a:prstGeom>
          <a:solidFill>
            <a:srgbClr val="F2F5FA"/>
          </a:solidFill>
          <a:ln w="9525">
            <a:solidFill>
              <a:srgbClr val="D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tIns="100584" wrap="square"/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CTU-13 Dataset — Stratosphere IPS, CTU Prague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5A6478"/>
                </a:solidFill>
                <a:latin typeface="Arial"/>
              </a:rPr>
              <a:t>    García et al., “An empirical comparison of botnet detection methods”, Computers &amp; Security, 2014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5A6478"/>
                </a:solidFill>
                <a:latin typeface="Arial"/>
              </a:rPr>
              <a:t>    mcfp.felk.cvut.cz/publicDatasets/CTU-13-Dataset/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MITRE ATT&amp;CK Enterprise Matrix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5A6478"/>
                </a:solidFill>
                <a:latin typeface="Arial"/>
              </a:rPr>
              <a:t>    Tactics TA0043, TA0001, TA0008, TA0011, TA0010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5A6478"/>
                </a:solidFill>
                <a:latin typeface="Arial"/>
              </a:rPr>
              <a:t>    attack.mitre.org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CIC-IDS2017 / CSE-CIC-IDS2018 — UNB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5A6478"/>
                </a:solidFill>
                <a:latin typeface="Arial"/>
              </a:rPr>
              <a:t>    Reviewed; access now gated behind registration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NCIIPC — nciipc.gov.in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537960" y="1298448"/>
            <a:ext cx="5623560" cy="329184"/>
          </a:xfrm>
          <a:prstGeom prst="round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Methods and Literature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6537960" y="1627631"/>
            <a:ext cx="5623560" cy="4553712"/>
          </a:xfrm>
          <a:prstGeom prst="rect">
            <a:avLst/>
          </a:prstGeom>
          <a:solidFill>
            <a:srgbClr val="F2F5FA"/>
          </a:solidFill>
          <a:ln w="9525">
            <a:solidFill>
              <a:srgbClr val="D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tIns="100584" wrap="square"/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World models / latent dynamics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5A6478"/>
                </a:solidFill>
                <a:latin typeface="Arial"/>
              </a:rPr>
              <a:t>    Ha &amp; Schmidhuber, “World Models”, NeurIPS 2018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5A6478"/>
                </a:solidFill>
                <a:latin typeface="Arial"/>
              </a:rPr>
              <a:t>    Hafner et al., “Learning Latent Dynamics for Planning from Pixels” (PlaNet/RSSM), ICML 2019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5A6478"/>
                </a:solidFill>
                <a:latin typeface="Arial"/>
              </a:rPr>
              <a:t>    Hafner et al., “Dream to Control” (Dreamer), ICLR 2020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Explainability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5A6478"/>
                </a:solidFill>
                <a:latin typeface="Arial"/>
              </a:rPr>
              <a:t>    Sundararajan et al., “Axiomatic Attribution for Deep Networks” (Integrated Gradients), ICML 2017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5A6478"/>
                </a:solidFill>
                <a:latin typeface="Arial"/>
              </a:rPr>
              <a:t>    Vaswani et al., “Attention Is All You Need”, NeurIPS 2017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1F497D"/>
                </a:solidFill>
                <a:latin typeface="Arial"/>
              </a:rPr>
              <a:t>Tools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5A6478"/>
                </a:solidFill>
                <a:latin typeface="Arial"/>
              </a:rPr>
              <a:t>    Scapy • PyTorch • scikit-learn • FastAPI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