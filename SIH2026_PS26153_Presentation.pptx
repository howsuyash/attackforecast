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Problem Statement ID – </a:t>
            </a:r>
            <a:r>
              <a:rPr sz="1300">
                <a:solidFill>
                  <a:srgbClr val="333F50"/>
                </a:solidFill>
                <a:latin typeface="Arial"/>
              </a:rPr>
              <a:t>26153</a:t>
            </a:r>
            <a:endParaRPr lang="en-US" dirty="0"/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Problem Statement Title – </a:t>
            </a:r>
            <a:r>
              <a:rPr sz="1300">
                <a:solidFill>
                  <a:srgbClr val="333F50"/>
                </a:solidFill>
                <a:latin typeface="Arial"/>
              </a:rPr>
              <a:t>AI based Network Attack Forecasting from Network Traffic Data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Theme – </a:t>
            </a:r>
            <a:r>
              <a:rPr sz="1300">
                <a:solidFill>
                  <a:srgbClr val="333F50"/>
                </a:solidFill>
                <a:latin typeface="Arial"/>
              </a:rPr>
              <a:t>Blockchain &amp; Cybersecurity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PS Category – </a:t>
            </a:r>
            <a:r>
              <a:rPr sz="1300">
                <a:solidFill>
                  <a:srgbClr val="333F50"/>
                </a:solidFill>
                <a:latin typeface="Arial"/>
              </a:rPr>
              <a:t>Software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Organisation – </a:t>
            </a:r>
            <a:r>
              <a:rPr sz="1300">
                <a:solidFill>
                  <a:srgbClr val="333F50"/>
                </a:solidFill>
                <a:latin typeface="Arial"/>
              </a:rPr>
              <a:t>National Technical Research Organisation (NTRO)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Team ID – </a:t>
            </a:r>
            <a:r>
              <a:rPr sz="1300">
                <a:solidFill>
                  <a:srgbClr val="333F50"/>
                </a:solidFill>
                <a:latin typeface="Arial"/>
              </a:rPr>
              <a:t>261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Team Name – </a:t>
            </a:r>
            <a:r>
              <a:rPr sz="1300">
                <a:solidFill>
                  <a:srgbClr val="333F50"/>
                </a:solidFill>
                <a:latin typeface="Arial"/>
              </a:rPr>
              <a:t>Git with It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sz="3600" b="1">
                <a:latin typeface="Times New Roman"/>
              </a:rPr>
              <a:t>PREDICTIVE CYBER DEFENCE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F2F5FA"/>
          </a:solidFill>
          <a:ln w="19050">
            <a:solidFill>
              <a:srgbClr val="1F497D"/>
            </a:solidFill>
          </a:ln>
          <a:effectLst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>
                <a:solidFill>
                  <a:srgbClr val="1F497D"/>
                </a:solidFill>
                <a:latin typeface="Arial"/>
              </a:rPr>
              <a:t>Git with It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ounded Rectangle 15362"/>
          <p:cNvSpPr/>
          <p:nvPr/>
        </p:nvSpPr>
        <p:spPr>
          <a:xfrm>
            <a:off x="411480" y="1298448"/>
            <a:ext cx="11338560" cy="438912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We do not classify traffic - we learn how a network's state evolves, then run that model forward to see where a host is heading.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411480" y="1847088"/>
            <a:ext cx="539496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AttackForecast - what it is made of</a:t>
            </a:r>
          </a:p>
        </p:txBody>
      </p:sp>
      <p:sp>
        <p:nvSpPr>
          <p:cNvPr id="15365" name="Rectangle 15364"/>
          <p:cNvSpPr/>
          <p:nvPr/>
        </p:nvSpPr>
        <p:spPr>
          <a:xfrm>
            <a:off x="448056" y="2103120"/>
            <a:ext cx="532180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5366" name="Connector 15365"/>
          <p:cNvCxnSpPr/>
          <p:nvPr/>
        </p:nvCxnSpPr>
        <p:spPr>
          <a:xfrm flipH="1" flipV="1">
            <a:off x="2029968" y="2590800"/>
            <a:ext cx="201168" cy="1405128"/>
          </a:xfrm>
          <a:prstGeom prst="line">
            <a:avLst/>
          </a:prstGeom>
          <a:ln w="12700">
            <a:solidFill>
              <a:srgbClr val="D3DDE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67" name="Rounded Rectangle 15366"/>
          <p:cNvSpPr/>
          <p:nvPr/>
        </p:nvSpPr>
        <p:spPr>
          <a:xfrm>
            <a:off x="411480" y="2389632"/>
            <a:ext cx="1618488" cy="384048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Flow features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411480" y="2810256"/>
            <a:ext cx="1618488" cy="43891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- 39 per 60-second window</a:t>
            </a:r>
          </a:p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bytes, ports, entropy</a:t>
            </a:r>
          </a:p>
        </p:txBody>
      </p:sp>
      <p:cxnSp>
        <p:nvCxnSpPr>
          <p:cNvPr id="15369" name="Connector 15368"/>
          <p:cNvCxnSpPr/>
          <p:nvPr/>
        </p:nvCxnSpPr>
        <p:spPr>
          <a:xfrm flipH="1" flipV="1">
            <a:off x="2029968" y="3767328"/>
            <a:ext cx="201168" cy="228600"/>
          </a:xfrm>
          <a:prstGeom prst="line">
            <a:avLst/>
          </a:prstGeom>
          <a:ln w="12700">
            <a:solidFill>
              <a:srgbClr val="D3DDE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0" name="Rounded Rectangle 15369"/>
          <p:cNvSpPr/>
          <p:nvPr/>
        </p:nvSpPr>
        <p:spPr>
          <a:xfrm>
            <a:off x="411480" y="3566160"/>
            <a:ext cx="1618488" cy="384048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Packet features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411480" y="3986784"/>
            <a:ext cx="1618488" cy="43891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- 23 from raw PCAP</a:t>
            </a:r>
          </a:p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TTL variance, TCP window</a:t>
            </a:r>
          </a:p>
        </p:txBody>
      </p:sp>
      <p:cxnSp>
        <p:nvCxnSpPr>
          <p:cNvPr id="15372" name="Connector 15371"/>
          <p:cNvCxnSpPr/>
          <p:nvPr/>
        </p:nvCxnSpPr>
        <p:spPr>
          <a:xfrm flipH="1">
            <a:off x="2029968" y="3995928"/>
            <a:ext cx="201168" cy="947928"/>
          </a:xfrm>
          <a:prstGeom prst="line">
            <a:avLst/>
          </a:prstGeom>
          <a:ln w="12700">
            <a:solidFill>
              <a:srgbClr val="D3DDE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3" name="Rounded Rectangle 15372"/>
          <p:cNvSpPr/>
          <p:nvPr/>
        </p:nvSpPr>
        <p:spPr>
          <a:xfrm>
            <a:off x="411480" y="4742688"/>
            <a:ext cx="1618488" cy="384048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World model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411480" y="5163312"/>
            <a:ext cx="1618488" cy="43891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encoder + GRU + prior</a:t>
            </a:r>
          </a:p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learns state transitions</a:t>
            </a:r>
          </a:p>
        </p:txBody>
      </p:sp>
      <p:cxnSp>
        <p:nvCxnSpPr>
          <p:cNvPr id="15375" name="Connector 15374"/>
          <p:cNvCxnSpPr/>
          <p:nvPr/>
        </p:nvCxnSpPr>
        <p:spPr>
          <a:xfrm flipV="1">
            <a:off x="3986784" y="2590800"/>
            <a:ext cx="201168" cy="1405128"/>
          </a:xfrm>
          <a:prstGeom prst="line">
            <a:avLst/>
          </a:prstGeom>
          <a:ln w="12700">
            <a:solidFill>
              <a:srgbClr val="D3DDE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6" name="Rounded Rectangle 15375"/>
          <p:cNvSpPr/>
          <p:nvPr/>
        </p:nvSpPr>
        <p:spPr>
          <a:xfrm>
            <a:off x="4187952" y="2389632"/>
            <a:ext cx="1618488" cy="384048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Forecasting</a:t>
            </a:r>
          </a:p>
        </p:txBody>
      </p:sp>
      <p:sp>
        <p:nvSpPr>
          <p:cNvPr id="15377" name="TextBox 15376"/>
          <p:cNvSpPr txBox="1"/>
          <p:nvPr/>
        </p:nvSpPr>
        <p:spPr>
          <a:xfrm>
            <a:off x="4187952" y="2810256"/>
            <a:ext cx="1618488" cy="43891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- 10 states imagined ahead</a:t>
            </a:r>
          </a:p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uncertainty band</a:t>
            </a:r>
          </a:p>
        </p:txBody>
      </p:sp>
      <p:cxnSp>
        <p:nvCxnSpPr>
          <p:cNvPr id="15378" name="Connector 15377"/>
          <p:cNvCxnSpPr/>
          <p:nvPr/>
        </p:nvCxnSpPr>
        <p:spPr>
          <a:xfrm flipV="1">
            <a:off x="3986784" y="3767328"/>
            <a:ext cx="201168" cy="228600"/>
          </a:xfrm>
          <a:prstGeom prst="line">
            <a:avLst/>
          </a:prstGeom>
          <a:ln w="12700">
            <a:solidFill>
              <a:srgbClr val="D3DDE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9" name="Rounded Rectangle 15378"/>
          <p:cNvSpPr/>
          <p:nvPr/>
        </p:nvSpPr>
        <p:spPr>
          <a:xfrm>
            <a:off x="4187952" y="3566160"/>
            <a:ext cx="1618488" cy="384048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ATT&amp;CK mapping</a:t>
            </a:r>
          </a:p>
        </p:txBody>
      </p:sp>
      <p:sp>
        <p:nvSpPr>
          <p:cNvPr id="15380" name="TextBox 15379"/>
          <p:cNvSpPr txBox="1"/>
          <p:nvPr/>
        </p:nvSpPr>
        <p:spPr>
          <a:xfrm>
            <a:off x="4187952" y="3986784"/>
            <a:ext cx="1618488" cy="43891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- 5 kill-chain stages</a:t>
            </a:r>
          </a:p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technique IDs attached</a:t>
            </a:r>
          </a:p>
        </p:txBody>
      </p:sp>
      <p:cxnSp>
        <p:nvCxnSpPr>
          <p:cNvPr id="15381" name="Connector 15380"/>
          <p:cNvCxnSpPr/>
          <p:nvPr/>
        </p:nvCxnSpPr>
        <p:spPr>
          <a:xfrm>
            <a:off x="3986784" y="3995928"/>
            <a:ext cx="201168" cy="947928"/>
          </a:xfrm>
          <a:prstGeom prst="line">
            <a:avLst/>
          </a:prstGeom>
          <a:ln w="12700">
            <a:solidFill>
              <a:srgbClr val="D3DDE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2" name="Rounded Rectangle 15381"/>
          <p:cNvSpPr/>
          <p:nvPr/>
        </p:nvSpPr>
        <p:spPr>
          <a:xfrm>
            <a:off x="4187952" y="4742688"/>
            <a:ext cx="1618488" cy="384048"/>
          </a:xfrm>
          <a:prstGeom prst="roundRect">
            <a:avLst/>
          </a:prstGeom>
          <a:solidFill>
            <a:srgbClr val="C23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Explainability</a:t>
            </a:r>
          </a:p>
        </p:txBody>
      </p:sp>
      <p:sp>
        <p:nvSpPr>
          <p:cNvPr id="15383" name="TextBox 15382"/>
          <p:cNvSpPr txBox="1"/>
          <p:nvPr/>
        </p:nvSpPr>
        <p:spPr>
          <a:xfrm>
            <a:off x="4187952" y="5163312"/>
            <a:ext cx="1618488" cy="43891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integrated gradients</a:t>
            </a:r>
          </a:p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temporal attention</a:t>
            </a:r>
          </a:p>
        </p:txBody>
      </p:sp>
      <p:sp>
        <p:nvSpPr>
          <p:cNvPr id="15384" name="Rounded Rectangle 15383"/>
          <p:cNvSpPr/>
          <p:nvPr/>
        </p:nvSpPr>
        <p:spPr>
          <a:xfrm>
            <a:off x="2231136" y="3575304"/>
            <a:ext cx="1755648" cy="841248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AttackForecast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Arial"/>
              </a:rPr>
              <a:t>RSSM world model  -  138k parameters</a:t>
            </a:r>
          </a:p>
        </p:txBody>
      </p:sp>
      <p:sp>
        <p:nvSpPr>
          <p:cNvPr id="15385" name="TextBox 15384"/>
          <p:cNvSpPr txBox="1"/>
          <p:nvPr/>
        </p:nvSpPr>
        <p:spPr>
          <a:xfrm>
            <a:off x="6309360" y="1847088"/>
            <a:ext cx="5440679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How it addresses the problem</a:t>
            </a:r>
          </a:p>
        </p:txBody>
      </p:sp>
      <p:sp>
        <p:nvSpPr>
          <p:cNvPr id="15386" name="Rectangle 15385"/>
          <p:cNvSpPr/>
          <p:nvPr/>
        </p:nvSpPr>
        <p:spPr>
          <a:xfrm>
            <a:off x="6345936" y="2103120"/>
            <a:ext cx="5367527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7" name="Right Arrow 15386"/>
          <p:cNvSpPr/>
          <p:nvPr/>
        </p:nvSpPr>
        <p:spPr>
          <a:xfrm>
            <a:off x="6309360" y="3054096"/>
            <a:ext cx="5440679" cy="402336"/>
          </a:xfrm>
          <a:prstGeom prst="rightArrow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8" name="Rounded Rectangle 15387"/>
          <p:cNvSpPr/>
          <p:nvPr/>
        </p:nvSpPr>
        <p:spPr>
          <a:xfrm>
            <a:off x="6400800" y="2971800"/>
            <a:ext cx="786384" cy="566928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389" name="TextBox 15388"/>
          <p:cNvSpPr txBox="1"/>
          <p:nvPr/>
        </p:nvSpPr>
        <p:spPr>
          <a:xfrm>
            <a:off x="6272784" y="2249424"/>
            <a:ext cx="1737360" cy="58521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4F81BD"/>
                </a:solidFill>
                <a:latin typeface="Arial"/>
              </a:rPr>
              <a:t>Observe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4F81BD"/>
                </a:solidFill>
                <a:latin typeface="Arial"/>
              </a:rPr>
              <a:t>60-second host windows</a:t>
            </a:r>
          </a:p>
        </p:txBody>
      </p:sp>
      <p:sp>
        <p:nvSpPr>
          <p:cNvPr id="15390" name="Rounded Rectangle 15389"/>
          <p:cNvSpPr/>
          <p:nvPr/>
        </p:nvSpPr>
        <p:spPr>
          <a:xfrm>
            <a:off x="7445502" y="2971800"/>
            <a:ext cx="786384" cy="566928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391" name="TextBox 15390"/>
          <p:cNvSpPr txBox="1"/>
          <p:nvPr/>
        </p:nvSpPr>
        <p:spPr>
          <a:xfrm>
            <a:off x="6970014" y="3511296"/>
            <a:ext cx="1737360" cy="58521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333F50"/>
                </a:solidFill>
                <a:latin typeface="Arial"/>
              </a:rPr>
              <a:t>Learn transitions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333F50"/>
                </a:solidFill>
                <a:latin typeface="Arial"/>
              </a:rPr>
              <a:t>what state follows this state</a:t>
            </a:r>
          </a:p>
        </p:txBody>
      </p:sp>
      <p:sp>
        <p:nvSpPr>
          <p:cNvPr id="15392" name="Rounded Rectangle 15391"/>
          <p:cNvSpPr/>
          <p:nvPr/>
        </p:nvSpPr>
        <p:spPr>
          <a:xfrm>
            <a:off x="8490204" y="2971800"/>
            <a:ext cx="786384" cy="566928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393" name="TextBox 15392"/>
          <p:cNvSpPr txBox="1"/>
          <p:nvPr/>
        </p:nvSpPr>
        <p:spPr>
          <a:xfrm>
            <a:off x="8014716" y="2249424"/>
            <a:ext cx="1737360" cy="58521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E37B2A"/>
                </a:solidFill>
                <a:latin typeface="Arial"/>
              </a:rPr>
              <a:t>Cut the traffic off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E37B2A"/>
                </a:solidFill>
                <a:latin typeface="Arial"/>
              </a:rPr>
              <a:t>model sees nothing more</a:t>
            </a:r>
          </a:p>
        </p:txBody>
      </p:sp>
      <p:sp>
        <p:nvSpPr>
          <p:cNvPr id="15394" name="Rounded Rectangle 15393"/>
          <p:cNvSpPr/>
          <p:nvPr/>
        </p:nvSpPr>
        <p:spPr>
          <a:xfrm>
            <a:off x="9534905" y="2971800"/>
            <a:ext cx="786384" cy="566928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395" name="TextBox 15394"/>
          <p:cNvSpPr txBox="1"/>
          <p:nvPr/>
        </p:nvSpPr>
        <p:spPr>
          <a:xfrm>
            <a:off x="9059417" y="3511296"/>
            <a:ext cx="1737360" cy="58521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333F50"/>
                </a:solidFill>
                <a:latin typeface="Arial"/>
              </a:rPr>
              <a:t>Imagine 10 steps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333F50"/>
                </a:solidFill>
                <a:latin typeface="Arial"/>
              </a:rPr>
              <a:t>it generates the future itself</a:t>
            </a:r>
          </a:p>
        </p:txBody>
      </p:sp>
      <p:sp>
        <p:nvSpPr>
          <p:cNvPr id="15396" name="Rounded Rectangle 15395"/>
          <p:cNvSpPr/>
          <p:nvPr/>
        </p:nvSpPr>
        <p:spPr>
          <a:xfrm>
            <a:off x="10579608" y="2971800"/>
            <a:ext cx="786384" cy="566928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5397" name="TextBox 15396"/>
          <p:cNvSpPr txBox="1"/>
          <p:nvPr/>
        </p:nvSpPr>
        <p:spPr>
          <a:xfrm>
            <a:off x="10049255" y="2249424"/>
            <a:ext cx="1737360" cy="58521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77933C"/>
                </a:solidFill>
                <a:latin typeface="Arial"/>
              </a:rPr>
              <a:t>Score each state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77933C"/>
                </a:solidFill>
                <a:latin typeface="Arial"/>
              </a:rPr>
              <a:t>risk + ATT&amp;CK stage</a:t>
            </a:r>
          </a:p>
        </p:txBody>
      </p:sp>
      <p:sp>
        <p:nvSpPr>
          <p:cNvPr id="15398" name="TextBox 15397"/>
          <p:cNvSpPr txBox="1"/>
          <p:nvPr/>
        </p:nvSpPr>
        <p:spPr>
          <a:xfrm>
            <a:off x="6309360" y="4224528"/>
            <a:ext cx="5440679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Innovation and uniqueness</a:t>
            </a:r>
          </a:p>
        </p:txBody>
      </p:sp>
      <p:sp>
        <p:nvSpPr>
          <p:cNvPr id="15399" name="Rectangle 15398"/>
          <p:cNvSpPr/>
          <p:nvPr/>
        </p:nvSpPr>
        <p:spPr>
          <a:xfrm>
            <a:off x="6345936" y="4480560"/>
            <a:ext cx="5367527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0" name="Rounded Rectangle 15399"/>
          <p:cNvSpPr/>
          <p:nvPr/>
        </p:nvSpPr>
        <p:spPr>
          <a:xfrm>
            <a:off x="6309360" y="4617720"/>
            <a:ext cx="1959863" cy="457200"/>
          </a:xfrm>
          <a:prstGeom prst="roundRect">
            <a:avLst/>
          </a:prstGeom>
          <a:noFill/>
          <a:ln w="57150">
            <a:solidFill>
              <a:srgbClr val="E37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1" name="TextBox 15400"/>
          <p:cNvSpPr txBox="1"/>
          <p:nvPr/>
        </p:nvSpPr>
        <p:spPr>
          <a:xfrm>
            <a:off x="6492240" y="5120640"/>
            <a:ext cx="1594103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00" b="1">
                <a:solidFill>
                  <a:srgbClr val="E37B2A"/>
                </a:solidFill>
                <a:latin typeface="Arial"/>
              </a:rPr>
              <a:t>World model, not a classifier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E37B2A"/>
                </a:solidFill>
                <a:latin typeface="Arial"/>
              </a:rPr>
              <a:t>heads read the latent state, so they work on imagined states</a:t>
            </a:r>
          </a:p>
        </p:txBody>
      </p:sp>
      <p:sp>
        <p:nvSpPr>
          <p:cNvPr id="15402" name="Rounded Rectangle 15401"/>
          <p:cNvSpPr/>
          <p:nvPr/>
        </p:nvSpPr>
        <p:spPr>
          <a:xfrm>
            <a:off x="8049767" y="4617720"/>
            <a:ext cx="1959863" cy="457200"/>
          </a:xfrm>
          <a:prstGeom prst="roundRect">
            <a:avLst/>
          </a:prstGeom>
          <a:noFill/>
          <a:ln w="57150">
            <a:solidFill>
              <a:srgbClr val="7A4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3" name="TextBox 15402"/>
          <p:cNvSpPr txBox="1"/>
          <p:nvPr/>
        </p:nvSpPr>
        <p:spPr>
          <a:xfrm>
            <a:off x="8232647" y="5120640"/>
            <a:ext cx="1594103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00" b="1">
                <a:solidFill>
                  <a:srgbClr val="7A45D1"/>
                </a:solidFill>
                <a:latin typeface="Arial"/>
              </a:rPr>
              <a:t>Falsifiable by construction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7A45D1"/>
                </a:solidFill>
                <a:latin typeface="Arial"/>
              </a:rPr>
              <a:t>imagination-only loss gives zero encoder gradient - in our tests</a:t>
            </a:r>
          </a:p>
        </p:txBody>
      </p:sp>
      <p:sp>
        <p:nvSpPr>
          <p:cNvPr id="15404" name="Rounded Rectangle 15403"/>
          <p:cNvSpPr/>
          <p:nvPr/>
        </p:nvSpPr>
        <p:spPr>
          <a:xfrm>
            <a:off x="9790176" y="4617720"/>
            <a:ext cx="1959863" cy="457200"/>
          </a:xfrm>
          <a:prstGeom prst="roundRect">
            <a:avLst/>
          </a:prstGeom>
          <a:noFill/>
          <a:ln w="57150">
            <a:solidFill>
              <a:srgbClr val="7793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5" name="TextBox 15404"/>
          <p:cNvSpPr txBox="1"/>
          <p:nvPr/>
        </p:nvSpPr>
        <p:spPr>
          <a:xfrm>
            <a:off x="9973056" y="5120640"/>
            <a:ext cx="1594103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00" b="1">
                <a:solidFill>
                  <a:srgbClr val="77933C"/>
                </a:solidFill>
                <a:latin typeface="Arial"/>
              </a:rPr>
              <a:t>Runs offline on a CPU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77933C"/>
                </a:solidFill>
                <a:latin typeface="Arial"/>
              </a:rPr>
              <a:t>no cloud, no GPU, no external API - air-gap ready for CII networks</a:t>
            </a:r>
          </a:p>
        </p:txBody>
      </p:sp>
      <p:sp>
        <p:nvSpPr>
          <p:cNvPr id="15406" name="Rounded Rectangle 15405"/>
          <p:cNvSpPr/>
          <p:nvPr/>
        </p:nvSpPr>
        <p:spPr>
          <a:xfrm>
            <a:off x="411480" y="5833872"/>
            <a:ext cx="11338560" cy="384048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Working prototype today  -  258,229 network states from all 13 CTU-13 captures  -  28 of 30 infected hosts flagged at 4.9% false alarms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F2F5FA"/>
          </a:solidFill>
          <a:ln w="19050">
            <a:solidFill>
              <a:srgbClr val="1F497D"/>
            </a:solidFill>
          </a:ln>
          <a:effectLst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>
                <a:solidFill>
                  <a:srgbClr val="1F497D"/>
                </a:solidFill>
                <a:latin typeface="Arial"/>
              </a:rPr>
              <a:t>Git with It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411480" y="1298448"/>
            <a:ext cx="644652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Architecture - traffic in, forecast out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448056" y="1554480"/>
            <a:ext cx="637336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Rounded Rectangle 17412"/>
          <p:cNvSpPr/>
          <p:nvPr/>
        </p:nvSpPr>
        <p:spPr>
          <a:xfrm>
            <a:off x="685800" y="1755648"/>
            <a:ext cx="5897880" cy="457200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INGEST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NetFlow / .binetflow  -  raw PCAP via Scapy</a:t>
            </a:r>
          </a:p>
        </p:txBody>
      </p:sp>
      <p:sp>
        <p:nvSpPr>
          <p:cNvPr id="17414" name="Down Arrow 17413"/>
          <p:cNvSpPr/>
          <p:nvPr/>
        </p:nvSpPr>
        <p:spPr>
          <a:xfrm>
            <a:off x="3543300" y="2226564"/>
            <a:ext cx="182880" cy="109728"/>
          </a:xfrm>
          <a:prstGeom prst="downArrow">
            <a:avLst/>
          </a:prstGeom>
          <a:solidFill>
            <a:srgbClr val="D3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5" name="Rounded Rectangle 17414"/>
          <p:cNvSpPr/>
          <p:nvPr/>
        </p:nvSpPr>
        <p:spPr>
          <a:xfrm>
            <a:off x="685800" y="2350008"/>
            <a:ext cx="5897880" cy="457200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FEATURE EXTRACTION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39 flow features  +  23 packet features</a:t>
            </a:r>
          </a:p>
        </p:txBody>
      </p:sp>
      <p:sp>
        <p:nvSpPr>
          <p:cNvPr id="17416" name="Down Arrow 17415"/>
          <p:cNvSpPr/>
          <p:nvPr/>
        </p:nvSpPr>
        <p:spPr>
          <a:xfrm>
            <a:off x="3543300" y="2820924"/>
            <a:ext cx="182880" cy="109728"/>
          </a:xfrm>
          <a:prstGeom prst="downArrow">
            <a:avLst/>
          </a:prstGeom>
          <a:solidFill>
            <a:srgbClr val="D3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Rounded Rectangle 17416"/>
          <p:cNvSpPr/>
          <p:nvPr/>
        </p:nvSpPr>
        <p:spPr>
          <a:xfrm>
            <a:off x="685800" y="2944368"/>
            <a:ext cx="5897880" cy="457200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NETWORK STATE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one cell per (host, 60-second window)</a:t>
            </a:r>
          </a:p>
        </p:txBody>
      </p:sp>
      <p:sp>
        <p:nvSpPr>
          <p:cNvPr id="17418" name="Down Arrow 17417"/>
          <p:cNvSpPr/>
          <p:nvPr/>
        </p:nvSpPr>
        <p:spPr>
          <a:xfrm>
            <a:off x="3543300" y="3415284"/>
            <a:ext cx="182880" cy="109728"/>
          </a:xfrm>
          <a:prstGeom prst="downArrow">
            <a:avLst/>
          </a:prstGeom>
          <a:solidFill>
            <a:srgbClr val="D3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Rounded Rectangle 17418"/>
          <p:cNvSpPr/>
          <p:nvPr/>
        </p:nvSpPr>
        <p:spPr>
          <a:xfrm>
            <a:off x="685800" y="3538727"/>
            <a:ext cx="5897880" cy="457200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ENCODER + GRU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latent state carrying the host's history</a:t>
            </a:r>
          </a:p>
        </p:txBody>
      </p:sp>
      <p:sp>
        <p:nvSpPr>
          <p:cNvPr id="17420" name="Down Arrow 17419"/>
          <p:cNvSpPr/>
          <p:nvPr/>
        </p:nvSpPr>
        <p:spPr>
          <a:xfrm>
            <a:off x="3543300" y="4009643"/>
            <a:ext cx="182880" cy="109728"/>
          </a:xfrm>
          <a:prstGeom prst="downArrow">
            <a:avLst/>
          </a:prstGeom>
          <a:solidFill>
            <a:srgbClr val="D3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Rounded Rectangle 17420"/>
          <p:cNvSpPr/>
          <p:nvPr/>
        </p:nvSpPr>
        <p:spPr>
          <a:xfrm>
            <a:off x="685800" y="4133087"/>
            <a:ext cx="5897880" cy="457200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PRIOR ROLLOUT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10 states imagined with no traffic observed</a:t>
            </a:r>
          </a:p>
        </p:txBody>
      </p:sp>
      <p:sp>
        <p:nvSpPr>
          <p:cNvPr id="17422" name="Down Arrow 17421"/>
          <p:cNvSpPr/>
          <p:nvPr/>
        </p:nvSpPr>
        <p:spPr>
          <a:xfrm>
            <a:off x="3543300" y="4604003"/>
            <a:ext cx="182880" cy="109728"/>
          </a:xfrm>
          <a:prstGeom prst="downArrow">
            <a:avLst/>
          </a:prstGeom>
          <a:solidFill>
            <a:srgbClr val="D3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3" name="Rounded Rectangle 17422"/>
          <p:cNvSpPr/>
          <p:nvPr/>
        </p:nvSpPr>
        <p:spPr>
          <a:xfrm>
            <a:off x="685800" y="4727448"/>
            <a:ext cx="5897880" cy="457200"/>
          </a:xfrm>
          <a:prstGeom prst="roundRect">
            <a:avLst/>
          </a:prstGeom>
          <a:solidFill>
            <a:srgbClr val="C23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PREDICTION HEADS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infiltration risk  -  ATT&amp;CK stage  -  surprise</a:t>
            </a:r>
          </a:p>
        </p:txBody>
      </p:sp>
      <p:sp>
        <p:nvSpPr>
          <p:cNvPr id="17424" name="Down Arrow 17423"/>
          <p:cNvSpPr/>
          <p:nvPr/>
        </p:nvSpPr>
        <p:spPr>
          <a:xfrm>
            <a:off x="3543300" y="5198364"/>
            <a:ext cx="182880" cy="109728"/>
          </a:xfrm>
          <a:prstGeom prst="downArrow">
            <a:avLst/>
          </a:prstGeom>
          <a:solidFill>
            <a:srgbClr val="D3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5" name="Rounded Rectangle 17424"/>
          <p:cNvSpPr/>
          <p:nvPr/>
        </p:nvSpPr>
        <p:spPr>
          <a:xfrm>
            <a:off x="685800" y="5321808"/>
            <a:ext cx="5897880" cy="457200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DECISION SUPPORT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dashboard, replay, three explanation channels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7360920" y="1298448"/>
            <a:ext cx="4389119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Tech stack used</a:t>
            </a:r>
          </a:p>
        </p:txBody>
      </p:sp>
      <p:sp>
        <p:nvSpPr>
          <p:cNvPr id="17427" name="Rectangle 17426"/>
          <p:cNvSpPr/>
          <p:nvPr/>
        </p:nvSpPr>
        <p:spPr>
          <a:xfrm>
            <a:off x="7397496" y="1554480"/>
            <a:ext cx="4315967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Rounded Rectangle 17427"/>
          <p:cNvSpPr/>
          <p:nvPr/>
        </p:nvSpPr>
        <p:spPr>
          <a:xfrm>
            <a:off x="7360920" y="1755648"/>
            <a:ext cx="1931212" cy="352044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Language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9356140" y="1755648"/>
            <a:ext cx="2393899" cy="35204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Python 3.13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7360920" y="2157984"/>
            <a:ext cx="1931212" cy="352044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Deep learning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9356140" y="2157984"/>
            <a:ext cx="2393899" cy="35204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PyTorch (CPU-only)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7360920" y="2560320"/>
            <a:ext cx="1931212" cy="352044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Packet parsing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9356140" y="2560320"/>
            <a:ext cx="2393899" cy="35204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Scapy - raw PCAP, flow rebuild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7360920" y="2962656"/>
            <a:ext cx="1931212" cy="352044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Data pipeline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9356140" y="2962656"/>
            <a:ext cx="2393899" cy="35204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pandas + NumPy, vectorised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7360920" y="3364991"/>
            <a:ext cx="1931212" cy="352044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Baselines &amp; metrics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9356140" y="3364991"/>
            <a:ext cx="2393899" cy="35204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scikit-learn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7360920" y="3767328"/>
            <a:ext cx="1931212" cy="352044"/>
          </a:xfrm>
          <a:prstGeom prst="roundRect">
            <a:avLst/>
          </a:prstGeom>
          <a:solidFill>
            <a:srgbClr val="C23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Backend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9356140" y="3767328"/>
            <a:ext cx="2393899" cy="35204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FastAPI + Uvicorn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7360920" y="4169664"/>
            <a:ext cx="1931212" cy="352044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Frontend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9356140" y="4169664"/>
            <a:ext cx="2393899" cy="35204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Single-file HTML, zero CDN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7360920" y="4572000"/>
            <a:ext cx="1931212" cy="352044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Explainability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9356140" y="4572000"/>
            <a:ext cx="2393899" cy="35204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Integrated Gradients + attention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7360920" y="4974336"/>
            <a:ext cx="1931212" cy="352044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Dataset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9356140" y="4974336"/>
            <a:ext cx="2393899" cy="35204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CTU-13 - 13 real captures, CC BY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7360920" y="5376672"/>
            <a:ext cx="1931212" cy="352044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Deployment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9356140" y="5376672"/>
            <a:ext cx="2393899" cy="35204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Fully offline, no external API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411480" y="5815583"/>
            <a:ext cx="11338560" cy="402336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Validation: split by time, never randomly  -  baselines given identical features, scaler and labels  -  seeded rollouts, so the benchmark reproduces byte for byte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F2F5FA"/>
          </a:solidFill>
          <a:ln w="19050">
            <a:solidFill>
              <a:srgbClr val="1F497D"/>
            </a:solidFill>
          </a:ln>
          <a:effectLst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>
                <a:solidFill>
                  <a:srgbClr val="1F497D"/>
                </a:solidFill>
                <a:latin typeface="Arial"/>
              </a:rPr>
              <a:t>Git with It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411480" y="1298448"/>
            <a:ext cx="548640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Feasibility of AttackForecast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448056" y="1554480"/>
            <a:ext cx="541324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Pentagon 17412"/>
          <p:cNvSpPr/>
          <p:nvPr/>
        </p:nvSpPr>
        <p:spPr>
          <a:xfrm rot="5400000">
            <a:off x="352958" y="1795881"/>
            <a:ext cx="1133856" cy="1016812"/>
          </a:xfrm>
          <a:prstGeom prst="homePlate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411480" y="1865376"/>
            <a:ext cx="1016812" cy="78638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Technical</a:t>
            </a:r>
          </a:p>
          <a:p>
            <a:pPr algn="ctr">
              <a:spcBef>
                <a:spcPts val="200"/>
              </a:spcBef>
            </a:pPr>
            <a:r>
              <a:rPr sz="700" b="0">
                <a:solidFill>
                  <a:srgbClr val="FFFFFF"/>
                </a:solidFill>
                <a:latin typeface="Arial"/>
              </a:rPr>
              <a:t>CPU-only, 138k params</a:t>
            </a:r>
          </a:p>
        </p:txBody>
      </p:sp>
      <p:sp>
        <p:nvSpPr>
          <p:cNvPr id="17415" name="Pentagon 17414"/>
          <p:cNvSpPr/>
          <p:nvPr/>
        </p:nvSpPr>
        <p:spPr>
          <a:xfrm rot="5400000">
            <a:off x="1470355" y="1795881"/>
            <a:ext cx="1133856" cy="1016812"/>
          </a:xfrm>
          <a:prstGeom prst="homePlate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6" name="TextBox 17415"/>
          <p:cNvSpPr txBox="1"/>
          <p:nvPr/>
        </p:nvSpPr>
        <p:spPr>
          <a:xfrm>
            <a:off x="1528876" y="1865376"/>
            <a:ext cx="1016812" cy="78638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Financial</a:t>
            </a:r>
          </a:p>
          <a:p>
            <a:pPr algn="ctr">
              <a:spcBef>
                <a:spcPts val="200"/>
              </a:spcBef>
            </a:pPr>
            <a:r>
              <a:rPr sz="700" b="0">
                <a:solidFill>
                  <a:srgbClr val="FFFFFF"/>
                </a:solidFill>
                <a:latin typeface="Arial"/>
              </a:rPr>
              <a:t>zero licence cost</a:t>
            </a:r>
          </a:p>
        </p:txBody>
      </p:sp>
      <p:sp>
        <p:nvSpPr>
          <p:cNvPr id="17417" name="Pentagon 17416"/>
          <p:cNvSpPr/>
          <p:nvPr/>
        </p:nvSpPr>
        <p:spPr>
          <a:xfrm rot="5400000">
            <a:off x="2587752" y="1795881"/>
            <a:ext cx="1133856" cy="1016812"/>
          </a:xfrm>
          <a:prstGeom prst="homePlate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8" name="TextBox 17417"/>
          <p:cNvSpPr txBox="1"/>
          <p:nvPr/>
        </p:nvSpPr>
        <p:spPr>
          <a:xfrm>
            <a:off x="2646273" y="1865376"/>
            <a:ext cx="1016812" cy="78638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Operational</a:t>
            </a:r>
          </a:p>
          <a:p>
            <a:pPr algn="ctr">
              <a:spcBef>
                <a:spcPts val="200"/>
              </a:spcBef>
            </a:pPr>
            <a:r>
              <a:rPr sz="700" b="0">
                <a:solidFill>
                  <a:srgbClr val="FFFFFF"/>
                </a:solidFill>
                <a:latin typeface="Arial"/>
              </a:rPr>
              <a:t>consumes NetFlow already exported</a:t>
            </a:r>
          </a:p>
        </p:txBody>
      </p:sp>
      <p:sp>
        <p:nvSpPr>
          <p:cNvPr id="17419" name="Pentagon 17418"/>
          <p:cNvSpPr/>
          <p:nvPr/>
        </p:nvSpPr>
        <p:spPr>
          <a:xfrm rot="5400000">
            <a:off x="3705148" y="1795881"/>
            <a:ext cx="1133856" cy="1016812"/>
          </a:xfrm>
          <a:prstGeom prst="homePlate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0" name="TextBox 17419"/>
          <p:cNvSpPr txBox="1"/>
          <p:nvPr/>
        </p:nvSpPr>
        <p:spPr>
          <a:xfrm>
            <a:off x="3763670" y="1865376"/>
            <a:ext cx="1016812" cy="78638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Legal</a:t>
            </a:r>
          </a:p>
          <a:p>
            <a:pPr algn="ctr">
              <a:spcBef>
                <a:spcPts val="200"/>
              </a:spcBef>
            </a:pPr>
            <a:r>
              <a:rPr sz="700" b="0">
                <a:solidFill>
                  <a:srgbClr val="FFFFFF"/>
                </a:solidFill>
                <a:latin typeface="Arial"/>
              </a:rPr>
              <a:t>data never leaves the network</a:t>
            </a:r>
          </a:p>
        </p:txBody>
      </p:sp>
      <p:sp>
        <p:nvSpPr>
          <p:cNvPr id="17421" name="Pentagon 17420"/>
          <p:cNvSpPr/>
          <p:nvPr/>
        </p:nvSpPr>
        <p:spPr>
          <a:xfrm rot="5400000">
            <a:off x="4822545" y="1795881"/>
            <a:ext cx="1133856" cy="1016812"/>
          </a:xfrm>
          <a:prstGeom prst="homePlate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2" name="TextBox 17421"/>
          <p:cNvSpPr txBox="1"/>
          <p:nvPr/>
        </p:nvSpPr>
        <p:spPr>
          <a:xfrm>
            <a:off x="4881067" y="1865376"/>
            <a:ext cx="1016812" cy="78638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Social</a:t>
            </a:r>
          </a:p>
          <a:p>
            <a:pPr algn="ctr">
              <a:spcBef>
                <a:spcPts val="200"/>
              </a:spcBef>
            </a:pPr>
            <a:r>
              <a:rPr sz="700" b="0">
                <a:solidFill>
                  <a:srgbClr val="FFFFFF"/>
                </a:solidFill>
                <a:latin typeface="Arial"/>
              </a:rPr>
              <a:t>analyst keeps the decision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411480" y="3054096"/>
            <a:ext cx="548640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Live output from the running prototype</a:t>
            </a:r>
          </a:p>
        </p:txBody>
      </p:sp>
      <p:sp>
        <p:nvSpPr>
          <p:cNvPr id="17424" name="Rectangle 17423"/>
          <p:cNvSpPr/>
          <p:nvPr/>
        </p:nvSpPr>
        <p:spPr>
          <a:xfrm>
            <a:off x="448056" y="3310128"/>
            <a:ext cx="541324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5" name="Picture 17424" descr="g-topolog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6890" y="3474720"/>
            <a:ext cx="3595579" cy="2432304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411480" y="5943600"/>
            <a:ext cx="548640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00" b="0">
                <a:solidFill>
                  <a:srgbClr val="5A6478"/>
                </a:solidFill>
                <a:latin typeface="Arial"/>
              </a:rPr>
              <a:t>3D topology - the compromised host and its malicious fan-out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6263640" y="1298448"/>
            <a:ext cx="5486399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C0504D"/>
                </a:solidFill>
                <a:latin typeface="Arial"/>
              </a:rPr>
              <a:t>Potential challenges and risks</a:t>
            </a:r>
          </a:p>
        </p:txBody>
      </p:sp>
      <p:sp>
        <p:nvSpPr>
          <p:cNvPr id="17428" name="Rectangle 17427"/>
          <p:cNvSpPr/>
          <p:nvPr/>
        </p:nvSpPr>
        <p:spPr>
          <a:xfrm>
            <a:off x="6300216" y="1554480"/>
            <a:ext cx="5413247" cy="32004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429" name="Connector 17428"/>
          <p:cNvCxnSpPr/>
          <p:nvPr/>
        </p:nvCxnSpPr>
        <p:spPr>
          <a:xfrm>
            <a:off x="6915150" y="1737360"/>
            <a:ext cx="0" cy="219455"/>
          </a:xfrm>
          <a:prstGeom prst="line">
            <a:avLst/>
          </a:prstGeom>
          <a:ln w="15875">
            <a:solidFill>
              <a:srgbClr val="5A64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0" name="Rounded Rectangle 17429"/>
          <p:cNvSpPr/>
          <p:nvPr/>
        </p:nvSpPr>
        <p:spPr>
          <a:xfrm>
            <a:off x="6263640" y="1956815"/>
            <a:ext cx="1303019" cy="402336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Label leak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6263640" y="2395728"/>
            <a:ext cx="1303019" cy="60350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00" b="0">
                <a:solidFill>
                  <a:srgbClr val="5A6478"/>
                </a:solidFill>
                <a:latin typeface="Arial"/>
              </a:rPr>
              <a:t>a metadata flag became a perfect label proxy</a:t>
            </a:r>
          </a:p>
        </p:txBody>
      </p:sp>
      <p:cxnSp>
        <p:nvCxnSpPr>
          <p:cNvPr id="17432" name="Connector 17431"/>
          <p:cNvCxnSpPr/>
          <p:nvPr/>
        </p:nvCxnSpPr>
        <p:spPr>
          <a:xfrm>
            <a:off x="8309610" y="1737360"/>
            <a:ext cx="0" cy="219455"/>
          </a:xfrm>
          <a:prstGeom prst="line">
            <a:avLst/>
          </a:prstGeom>
          <a:ln w="15875">
            <a:solidFill>
              <a:srgbClr val="5A64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3" name="Rounded Rectangle 17432"/>
          <p:cNvSpPr/>
          <p:nvPr/>
        </p:nvSpPr>
        <p:spPr>
          <a:xfrm>
            <a:off x="7658100" y="1956815"/>
            <a:ext cx="1303019" cy="402336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Detection is only a tie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7658100" y="2395728"/>
            <a:ext cx="1303019" cy="60350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00" b="0">
                <a:solidFill>
                  <a:srgbClr val="5A6478"/>
                </a:solidFill>
                <a:latin typeface="Arial"/>
              </a:rPr>
              <a:t>0.979 against 0.977 for logistic regression</a:t>
            </a:r>
          </a:p>
        </p:txBody>
      </p:sp>
      <p:cxnSp>
        <p:nvCxnSpPr>
          <p:cNvPr id="17435" name="Connector 17434"/>
          <p:cNvCxnSpPr/>
          <p:nvPr/>
        </p:nvCxnSpPr>
        <p:spPr>
          <a:xfrm>
            <a:off x="9704070" y="1737360"/>
            <a:ext cx="0" cy="219455"/>
          </a:xfrm>
          <a:prstGeom prst="line">
            <a:avLst/>
          </a:prstGeom>
          <a:ln w="15875">
            <a:solidFill>
              <a:srgbClr val="5A64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6" name="Rounded Rectangle 17435"/>
          <p:cNvSpPr/>
          <p:nvPr/>
        </p:nvSpPr>
        <p:spPr>
          <a:xfrm>
            <a:off x="9052560" y="1956815"/>
            <a:ext cx="1303019" cy="402336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Short-burst compromise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9052560" y="2395728"/>
            <a:ext cx="1303019" cy="60350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00" b="0">
                <a:solidFill>
                  <a:srgbClr val="5A6478"/>
                </a:solidFill>
                <a:latin typeface="Arial"/>
              </a:rPr>
              <a:t>the risk head needs sustained activity</a:t>
            </a:r>
          </a:p>
        </p:txBody>
      </p:sp>
      <p:cxnSp>
        <p:nvCxnSpPr>
          <p:cNvPr id="17438" name="Connector 17437"/>
          <p:cNvCxnSpPr/>
          <p:nvPr/>
        </p:nvCxnSpPr>
        <p:spPr>
          <a:xfrm>
            <a:off x="11098530" y="1737360"/>
            <a:ext cx="0" cy="219455"/>
          </a:xfrm>
          <a:prstGeom prst="line">
            <a:avLst/>
          </a:prstGeom>
          <a:ln w="15875">
            <a:solidFill>
              <a:srgbClr val="5A64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9" name="Rounded Rectangle 17438"/>
          <p:cNvSpPr/>
          <p:nvPr/>
        </p:nvSpPr>
        <p:spPr>
          <a:xfrm>
            <a:off x="10447020" y="1956815"/>
            <a:ext cx="1303019" cy="402336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Stages do not cross families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10447020" y="2395728"/>
            <a:ext cx="1303019" cy="60350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00" b="0">
                <a:solidFill>
                  <a:srgbClr val="5A6478"/>
                </a:solidFill>
                <a:latin typeface="Arial"/>
              </a:rPr>
              <a:t>progression did not transfer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6263640" y="3090672"/>
            <a:ext cx="5486399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77933C"/>
                </a:solidFill>
                <a:latin typeface="Arial"/>
              </a:rPr>
              <a:t>Strategies for overcoming these</a:t>
            </a:r>
          </a:p>
        </p:txBody>
      </p:sp>
      <p:sp>
        <p:nvSpPr>
          <p:cNvPr id="17442" name="Rectangle 17441"/>
          <p:cNvSpPr/>
          <p:nvPr/>
        </p:nvSpPr>
        <p:spPr>
          <a:xfrm>
            <a:off x="6300216" y="3346704"/>
            <a:ext cx="5413247" cy="32004"/>
          </a:xfrm>
          <a:prstGeom prst="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3" name="Can 17442"/>
          <p:cNvSpPr/>
          <p:nvPr/>
        </p:nvSpPr>
        <p:spPr>
          <a:xfrm>
            <a:off x="6445102" y="3529584"/>
            <a:ext cx="933236" cy="512064"/>
          </a:xfrm>
          <a:prstGeom prst="can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4" name="TextBox 17443"/>
          <p:cNvSpPr txBox="1"/>
          <p:nvPr/>
        </p:nvSpPr>
        <p:spPr>
          <a:xfrm>
            <a:off x="6263640" y="4078224"/>
            <a:ext cx="1296161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4F81BD"/>
                </a:solidFill>
                <a:latin typeface="Arial"/>
              </a:rPr>
              <a:t>Found and removed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4F81BD"/>
                </a:solidFill>
                <a:latin typeface="Arial"/>
              </a:rPr>
              <a:t>caught in our own audit; F1 0.23 to 0.98</a:t>
            </a:r>
          </a:p>
        </p:txBody>
      </p:sp>
      <p:sp>
        <p:nvSpPr>
          <p:cNvPr id="17445" name="Can 17444"/>
          <p:cNvSpPr/>
          <p:nvPr/>
        </p:nvSpPr>
        <p:spPr>
          <a:xfrm>
            <a:off x="7841848" y="3529584"/>
            <a:ext cx="933236" cy="512064"/>
          </a:xfrm>
          <a:prstGeom prst="can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6" name="TextBox 17445"/>
          <p:cNvSpPr txBox="1"/>
          <p:nvPr/>
        </p:nvSpPr>
        <p:spPr>
          <a:xfrm>
            <a:off x="7660386" y="4078224"/>
            <a:ext cx="1296161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11838B"/>
                </a:solidFill>
                <a:latin typeface="Arial"/>
              </a:rPr>
              <a:t>Compete on forecasting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11838B"/>
                </a:solidFill>
                <a:latin typeface="Arial"/>
              </a:rPr>
              <a:t>beats persistence at 9 of 10 horizons</a:t>
            </a:r>
          </a:p>
        </p:txBody>
      </p:sp>
      <p:sp>
        <p:nvSpPr>
          <p:cNvPr id="17447" name="Can 17446"/>
          <p:cNvSpPr/>
          <p:nvPr/>
        </p:nvSpPr>
        <p:spPr>
          <a:xfrm>
            <a:off x="9238594" y="3529584"/>
            <a:ext cx="933236" cy="512064"/>
          </a:xfrm>
          <a:prstGeom prst="can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8" name="TextBox 17447"/>
          <p:cNvSpPr txBox="1"/>
          <p:nvPr/>
        </p:nvSpPr>
        <p:spPr>
          <a:xfrm>
            <a:off x="9057132" y="4078224"/>
            <a:ext cx="1296161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E37B2A"/>
                </a:solidFill>
                <a:latin typeface="Arial"/>
              </a:rPr>
              <a:t>Second channel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E37B2A"/>
                </a:solidFill>
                <a:latin typeface="Arial"/>
              </a:rPr>
              <a:t>unsupervised surprise covers the gap</a:t>
            </a:r>
          </a:p>
        </p:txBody>
      </p:sp>
      <p:sp>
        <p:nvSpPr>
          <p:cNvPr id="17449" name="Can 17448"/>
          <p:cNvSpPr/>
          <p:nvPr/>
        </p:nvSpPr>
        <p:spPr>
          <a:xfrm>
            <a:off x="10635340" y="3529584"/>
            <a:ext cx="933236" cy="512064"/>
          </a:xfrm>
          <a:prstGeom prst="can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0" name="TextBox 17449"/>
          <p:cNvSpPr txBox="1"/>
          <p:nvPr/>
        </p:nvSpPr>
        <p:spPr>
          <a:xfrm>
            <a:off x="10453878" y="4078224"/>
            <a:ext cx="1296161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7A45D1"/>
                </a:solidFill>
                <a:latin typeface="Arial"/>
              </a:rPr>
              <a:t>Reported, not hidden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7A45D1"/>
                </a:solidFill>
                <a:latin typeface="Arial"/>
              </a:rPr>
              <a:t>detection transfers; progression does not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6263640" y="5285231"/>
            <a:ext cx="5486399" cy="402336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Stage forecast macro-F1 by horizon</a:t>
            </a:r>
          </a:p>
        </p:txBody>
      </p:sp>
      <p:graphicFrame>
        <p:nvGraphicFramePr>
          <p:cNvPr id="17452" name="Table 17451"/>
          <p:cNvGraphicFramePr>
            <a:graphicFrameLocks noGrp="1"/>
          </p:cNvGraphicFramePr>
          <p:nvPr/>
        </p:nvGraphicFramePr>
        <p:xfrm>
          <a:off x="6263640" y="5705856"/>
          <a:ext cx="5522976" cy="512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77824"/>
                <a:gridCol w="877824"/>
                <a:gridCol w="877824"/>
                <a:gridCol w="877824"/>
              </a:tblGrid>
              <a:tr h="1706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Horizon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+6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+10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</a:tr>
              <a:tr h="1706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F50"/>
                          </a:solidFill>
                          <a:latin typeface="Arial"/>
                        </a:rPr>
                        <a:t>World model (ours)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F50"/>
                          </a:solidFill>
                          <a:latin typeface="Arial"/>
                        </a:rPr>
                        <a:t>0.583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F50"/>
                          </a:solidFill>
                          <a:latin typeface="Arial"/>
                        </a:rPr>
                        <a:t>0.642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F50"/>
                          </a:solidFill>
                          <a:latin typeface="Arial"/>
                        </a:rPr>
                        <a:t>0.624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F50"/>
                          </a:solidFill>
                          <a:latin typeface="Arial"/>
                        </a:rPr>
                        <a:t>0.524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</a:tr>
              <a:tr h="1706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F50"/>
                          </a:solidFill>
                          <a:latin typeface="Arial"/>
                        </a:rPr>
                        <a:t>“nothing changes” baseline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F50"/>
                          </a:solidFill>
                          <a:latin typeface="Arial"/>
                        </a:rPr>
                        <a:t>0.473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F50"/>
                          </a:solidFill>
                          <a:latin typeface="Arial"/>
                        </a:rPr>
                        <a:t>0.474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F50"/>
                          </a:solidFill>
                          <a:latin typeface="Arial"/>
                        </a:rPr>
                        <a:t>0.455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F50"/>
                          </a:solidFill>
                          <a:latin typeface="Arial"/>
                        </a:rPr>
                        <a:t>0.436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F2F5FA"/>
          </a:solidFill>
          <a:ln w="19050">
            <a:solidFill>
              <a:srgbClr val="1F497D"/>
            </a:solidFill>
          </a:ln>
          <a:effectLst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>
                <a:solidFill>
                  <a:srgbClr val="1F497D"/>
                </a:solidFill>
                <a:latin typeface="Arial"/>
              </a:rPr>
              <a:t>Git with It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11480" y="1298448"/>
            <a:ext cx="11338560" cy="420624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Shifting the defender from reacting after compromise to acting during the kill chain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828800"/>
            <a:ext cx="548640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Potential impact on the target audience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448056" y="2084832"/>
            <a:ext cx="541324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414" name="Connector 17413"/>
          <p:cNvCxnSpPr/>
          <p:nvPr/>
        </p:nvCxnSpPr>
        <p:spPr>
          <a:xfrm flipV="1">
            <a:off x="3154680" y="2651760"/>
            <a:ext cx="0" cy="822960"/>
          </a:xfrm>
          <a:prstGeom prst="line">
            <a:avLst/>
          </a:prstGeom>
          <a:ln w="15875">
            <a:solidFill>
              <a:srgbClr val="4F81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5" name="Rounded Rectangle 17414"/>
          <p:cNvSpPr/>
          <p:nvPr/>
        </p:nvSpPr>
        <p:spPr>
          <a:xfrm>
            <a:off x="2350008" y="2350008"/>
            <a:ext cx="1609344" cy="603504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SOC analysts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a ranked queue, not an alert flood</a:t>
            </a:r>
          </a:p>
        </p:txBody>
      </p:sp>
      <p:cxnSp>
        <p:nvCxnSpPr>
          <p:cNvPr id="17416" name="Connector 17415"/>
          <p:cNvCxnSpPr/>
          <p:nvPr/>
        </p:nvCxnSpPr>
        <p:spPr>
          <a:xfrm flipV="1">
            <a:off x="3693860" y="3612148"/>
            <a:ext cx="1287076" cy="254309"/>
          </a:xfrm>
          <a:prstGeom prst="line">
            <a:avLst/>
          </a:prstGeom>
          <a:ln w="15875">
            <a:solidFill>
              <a:srgbClr val="1183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7" name="Rounded Rectangle 17416"/>
          <p:cNvSpPr/>
          <p:nvPr/>
        </p:nvSpPr>
        <p:spPr>
          <a:xfrm>
            <a:off x="4176264" y="3310396"/>
            <a:ext cx="1609344" cy="603504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Critical infrastructure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power, banking, telecom, transport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3487911" y="4500302"/>
            <a:ext cx="795457" cy="665789"/>
          </a:xfrm>
          <a:prstGeom prst="line">
            <a:avLst/>
          </a:prstGeom>
          <a:ln w="15875">
            <a:solidFill>
              <a:srgbClr val="E37B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Rounded Rectangle 17418"/>
          <p:cNvSpPr/>
          <p:nvPr/>
        </p:nvSpPr>
        <p:spPr>
          <a:xfrm>
            <a:off x="3478696" y="4864339"/>
            <a:ext cx="1609344" cy="603504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CERT-In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national response teams</a:t>
            </a:r>
          </a:p>
        </p:txBody>
      </p:sp>
      <p:cxnSp>
        <p:nvCxnSpPr>
          <p:cNvPr id="17420" name="Connector 17419"/>
          <p:cNvCxnSpPr/>
          <p:nvPr/>
        </p:nvCxnSpPr>
        <p:spPr>
          <a:xfrm flipH="1">
            <a:off x="2025991" y="4500302"/>
            <a:ext cx="795457" cy="665789"/>
          </a:xfrm>
          <a:prstGeom prst="line">
            <a:avLst/>
          </a:prstGeom>
          <a:ln w="15875">
            <a:solidFill>
              <a:srgbClr val="7A45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1" name="Rounded Rectangle 17420"/>
          <p:cNvSpPr/>
          <p:nvPr/>
        </p:nvSpPr>
        <p:spPr>
          <a:xfrm>
            <a:off x="1221319" y="4864339"/>
            <a:ext cx="1609344" cy="603504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Enterprises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no new hardware to buy</a:t>
            </a:r>
          </a:p>
        </p:txBody>
      </p:sp>
      <p:cxnSp>
        <p:nvCxnSpPr>
          <p:cNvPr id="17422" name="Connector 17421"/>
          <p:cNvCxnSpPr/>
          <p:nvPr/>
        </p:nvCxnSpPr>
        <p:spPr>
          <a:xfrm flipH="1" flipV="1">
            <a:off x="1328423" y="3612148"/>
            <a:ext cx="1287076" cy="254309"/>
          </a:xfrm>
          <a:prstGeom prst="line">
            <a:avLst/>
          </a:prstGeom>
          <a:ln w="15875">
            <a:solidFill>
              <a:srgbClr val="7793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Rounded Rectangle 17422"/>
          <p:cNvSpPr/>
          <p:nvPr/>
        </p:nvSpPr>
        <p:spPr>
          <a:xfrm>
            <a:off x="523751" y="3310396"/>
            <a:ext cx="1609344" cy="603504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Auditors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every alert is challengeable</a:t>
            </a:r>
          </a:p>
        </p:txBody>
      </p:sp>
      <p:sp>
        <p:nvSpPr>
          <p:cNvPr id="17424" name="Oval 17423"/>
          <p:cNvSpPr/>
          <p:nvPr/>
        </p:nvSpPr>
        <p:spPr>
          <a:xfrm>
            <a:off x="2514600" y="3401568"/>
            <a:ext cx="1280160" cy="12801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AttackForecast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10 minutes of warning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6263640" y="1828800"/>
            <a:ext cx="5486399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Benefits of AttackForecast</a:t>
            </a:r>
          </a:p>
        </p:txBody>
      </p:sp>
      <p:sp>
        <p:nvSpPr>
          <p:cNvPr id="17426" name="Rectangle 17425"/>
          <p:cNvSpPr/>
          <p:nvPr/>
        </p:nvSpPr>
        <p:spPr>
          <a:xfrm>
            <a:off x="6300216" y="2084832"/>
            <a:ext cx="5413247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Donut 17426"/>
          <p:cNvSpPr/>
          <p:nvPr/>
        </p:nvSpPr>
        <p:spPr>
          <a:xfrm>
            <a:off x="8165592" y="3127248"/>
            <a:ext cx="1682496" cy="1682496"/>
          </a:xfrm>
          <a:prstGeom prst="donu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Oval 17427"/>
          <p:cNvSpPr/>
          <p:nvPr/>
        </p:nvSpPr>
        <p:spPr>
          <a:xfrm>
            <a:off x="8869680" y="3107862"/>
            <a:ext cx="274320" cy="274320"/>
          </a:xfrm>
          <a:prstGeom prst="ellipse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8147304" y="2231136"/>
            <a:ext cx="1719072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4F81BD"/>
                </a:solidFill>
                <a:latin typeface="Arial"/>
              </a:rPr>
              <a:t>Early warning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4F81BD"/>
                </a:solidFill>
                <a:latin typeface="Arial"/>
              </a:rPr>
              <a:t>up to 10 minutes before the chain closes</a:t>
            </a:r>
          </a:p>
        </p:txBody>
      </p:sp>
      <p:sp>
        <p:nvSpPr>
          <p:cNvPr id="17430" name="Oval 17429"/>
          <p:cNvSpPr/>
          <p:nvPr/>
        </p:nvSpPr>
        <p:spPr>
          <a:xfrm>
            <a:off x="9496226" y="3469599"/>
            <a:ext cx="274320" cy="274320"/>
          </a:xfrm>
          <a:prstGeom prst="ellipse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9936983" y="2962656"/>
            <a:ext cx="1719072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11838B"/>
                </a:solidFill>
                <a:latin typeface="Arial"/>
              </a:rPr>
              <a:t>Low noise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11838B"/>
                </a:solidFill>
                <a:latin typeface="Arial"/>
              </a:rPr>
              <a:t>4.9% false alarms across 13 captures</a:t>
            </a:r>
          </a:p>
        </p:txBody>
      </p:sp>
      <p:sp>
        <p:nvSpPr>
          <p:cNvPr id="17432" name="Oval 17431"/>
          <p:cNvSpPr/>
          <p:nvPr/>
        </p:nvSpPr>
        <p:spPr>
          <a:xfrm>
            <a:off x="9496226" y="4193072"/>
            <a:ext cx="274320" cy="274320"/>
          </a:xfrm>
          <a:prstGeom prst="ellipse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9936983" y="4425696"/>
            <a:ext cx="1719072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E37B2A"/>
                </a:solidFill>
                <a:latin typeface="Arial"/>
              </a:rPr>
              <a:t>Auditable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E37B2A"/>
                </a:solidFill>
                <a:latin typeface="Arial"/>
              </a:rPr>
              <a:t>replay shows what the model knew, minute by minute</a:t>
            </a:r>
          </a:p>
        </p:txBody>
      </p:sp>
      <p:sp>
        <p:nvSpPr>
          <p:cNvPr id="17434" name="Oval 17433"/>
          <p:cNvSpPr/>
          <p:nvPr/>
        </p:nvSpPr>
        <p:spPr>
          <a:xfrm>
            <a:off x="8869680" y="4554809"/>
            <a:ext cx="274320" cy="274320"/>
          </a:xfrm>
          <a:prstGeom prst="ellipse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8147304" y="5157216"/>
            <a:ext cx="1719072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7A45D1"/>
                </a:solidFill>
                <a:latin typeface="Arial"/>
              </a:rPr>
              <a:t>Air-gap ready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7A45D1"/>
                </a:solidFill>
                <a:latin typeface="Arial"/>
              </a:rPr>
              <a:t>nothing leaves the network</a:t>
            </a:r>
          </a:p>
        </p:txBody>
      </p:sp>
      <p:sp>
        <p:nvSpPr>
          <p:cNvPr id="17436" name="Oval 17435"/>
          <p:cNvSpPr/>
          <p:nvPr/>
        </p:nvSpPr>
        <p:spPr>
          <a:xfrm>
            <a:off x="8243133" y="4193072"/>
            <a:ext cx="274320" cy="274320"/>
          </a:xfrm>
          <a:prstGeom prst="ellipse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6357624" y="4425696"/>
            <a:ext cx="1719072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77933C"/>
                </a:solidFill>
                <a:latin typeface="Arial"/>
              </a:rPr>
              <a:t>Zero licence cost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77933C"/>
                </a:solidFill>
                <a:latin typeface="Arial"/>
              </a:rPr>
              <a:t>open source, runs on existing hardware</a:t>
            </a:r>
          </a:p>
        </p:txBody>
      </p:sp>
      <p:sp>
        <p:nvSpPr>
          <p:cNvPr id="17438" name="Oval 17437"/>
          <p:cNvSpPr/>
          <p:nvPr/>
        </p:nvSpPr>
        <p:spPr>
          <a:xfrm>
            <a:off x="8243133" y="3469599"/>
            <a:ext cx="274320" cy="274320"/>
          </a:xfrm>
          <a:prstGeom prst="ellipse">
            <a:avLst/>
          </a:prstGeom>
          <a:solidFill>
            <a:srgbClr val="C23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6357624" y="2962656"/>
            <a:ext cx="1719072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C23B77"/>
                </a:solidFill>
                <a:latin typeface="Arial"/>
              </a:rPr>
              <a:t>Playbook-ready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C23B77"/>
                </a:solidFill>
                <a:latin typeface="Arial"/>
              </a:rPr>
              <a:t>ATT&amp;CK stage names map onto what SOCs already use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411480" y="5815583"/>
            <a:ext cx="11338560" cy="402336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Every claim on this deck is reproducible from the repository: one command prepares the data, one trains, one benchmarks.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F2F5FA"/>
          </a:solidFill>
          <a:ln w="19050">
            <a:solidFill>
              <a:srgbClr val="1F497D"/>
            </a:solidFill>
          </a:ln>
          <a:effectLst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>
                <a:solidFill>
                  <a:srgbClr val="1F497D"/>
                </a:solidFill>
                <a:latin typeface="Arial"/>
              </a:rPr>
              <a:t>Git with It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411480" y="1298448"/>
            <a:ext cx="1133856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Datasets, standards and prior work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448056" y="1554480"/>
            <a:ext cx="1126540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Oval 17412"/>
          <p:cNvSpPr/>
          <p:nvPr/>
        </p:nvSpPr>
        <p:spPr>
          <a:xfrm>
            <a:off x="1267358" y="1755648"/>
            <a:ext cx="438912" cy="438912"/>
          </a:xfrm>
          <a:prstGeom prst="ellipse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cxnSp>
        <p:nvCxnSpPr>
          <p:cNvPr id="17414" name="Connector 17413"/>
          <p:cNvCxnSpPr/>
          <p:nvPr/>
        </p:nvCxnSpPr>
        <p:spPr>
          <a:xfrm>
            <a:off x="1486814" y="2194560"/>
            <a:ext cx="0" cy="164592"/>
          </a:xfrm>
          <a:prstGeom prst="line">
            <a:avLst/>
          </a:prstGeom>
          <a:ln w="19050">
            <a:solidFill>
              <a:srgbClr val="4F81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5" name="Pentagon 17414"/>
          <p:cNvSpPr/>
          <p:nvPr/>
        </p:nvSpPr>
        <p:spPr>
          <a:xfrm rot="5400000">
            <a:off x="581558" y="2189073"/>
            <a:ext cx="1810512" cy="2150668"/>
          </a:xfrm>
          <a:prstGeom prst="homePlate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6" name="TextBox 17415"/>
          <p:cNvSpPr txBox="1"/>
          <p:nvPr/>
        </p:nvSpPr>
        <p:spPr>
          <a:xfrm>
            <a:off x="502920" y="2487168"/>
            <a:ext cx="1967788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CTU-13 Dataset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Stratosphere IPS, CTU Prague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13 real botnet captures, CC BY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Garcia et al., Computers &amp;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Security, 2014</a:t>
            </a:r>
          </a:p>
        </p:txBody>
      </p:sp>
      <p:sp>
        <p:nvSpPr>
          <p:cNvPr id="17417" name="Oval 17416"/>
          <p:cNvSpPr/>
          <p:nvPr/>
        </p:nvSpPr>
        <p:spPr>
          <a:xfrm>
            <a:off x="3564331" y="1755648"/>
            <a:ext cx="438912" cy="438912"/>
          </a:xfrm>
          <a:prstGeom prst="ellipse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3783787" y="2194560"/>
            <a:ext cx="0" cy="164592"/>
          </a:xfrm>
          <a:prstGeom prst="line">
            <a:avLst/>
          </a:prstGeom>
          <a:ln w="19050">
            <a:solidFill>
              <a:srgbClr val="1183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Pentagon 17418"/>
          <p:cNvSpPr/>
          <p:nvPr/>
        </p:nvSpPr>
        <p:spPr>
          <a:xfrm rot="5400000">
            <a:off x="2878531" y="2189073"/>
            <a:ext cx="1810512" cy="2150668"/>
          </a:xfrm>
          <a:prstGeom prst="homePlate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0" name="TextBox 17419"/>
          <p:cNvSpPr txBox="1"/>
          <p:nvPr/>
        </p:nvSpPr>
        <p:spPr>
          <a:xfrm>
            <a:off x="2799892" y="2487168"/>
            <a:ext cx="1967788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MITRE ATT&amp;CK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Enterprise Matrix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TA0043 Reconnaissance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TA0001 / TA0008 / TA0011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TA0010 Exfiltration</a:t>
            </a:r>
          </a:p>
        </p:txBody>
      </p:sp>
      <p:sp>
        <p:nvSpPr>
          <p:cNvPr id="17421" name="Oval 17420"/>
          <p:cNvSpPr/>
          <p:nvPr/>
        </p:nvSpPr>
        <p:spPr>
          <a:xfrm>
            <a:off x="5861304" y="1755648"/>
            <a:ext cx="438912" cy="438912"/>
          </a:xfrm>
          <a:prstGeom prst="ellipse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cxnSp>
        <p:nvCxnSpPr>
          <p:cNvPr id="17422" name="Connector 17421"/>
          <p:cNvCxnSpPr/>
          <p:nvPr/>
        </p:nvCxnSpPr>
        <p:spPr>
          <a:xfrm>
            <a:off x="6080760" y="2194560"/>
            <a:ext cx="0" cy="164592"/>
          </a:xfrm>
          <a:prstGeom prst="line">
            <a:avLst/>
          </a:prstGeom>
          <a:ln w="19050">
            <a:solidFill>
              <a:srgbClr val="E37B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Pentagon 17422"/>
          <p:cNvSpPr/>
          <p:nvPr/>
        </p:nvSpPr>
        <p:spPr>
          <a:xfrm rot="5400000">
            <a:off x="5175504" y="2189073"/>
            <a:ext cx="1810512" cy="2150668"/>
          </a:xfrm>
          <a:prstGeom prst="homePlate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TextBox 17423"/>
          <p:cNvSpPr txBox="1"/>
          <p:nvPr/>
        </p:nvSpPr>
        <p:spPr>
          <a:xfrm>
            <a:off x="5096865" y="2487168"/>
            <a:ext cx="1967788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World models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Ha &amp; Schmidhuber,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World Models, NeurIPS 2018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Hafner et al., PlaNet, ICML 2019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Hafner et al., Dreamer, ICLR 2020</a:t>
            </a:r>
          </a:p>
        </p:txBody>
      </p:sp>
      <p:sp>
        <p:nvSpPr>
          <p:cNvPr id="17425" name="Oval 17424"/>
          <p:cNvSpPr/>
          <p:nvPr/>
        </p:nvSpPr>
        <p:spPr>
          <a:xfrm>
            <a:off x="8158276" y="1755648"/>
            <a:ext cx="438912" cy="438912"/>
          </a:xfrm>
          <a:prstGeom prst="ellipse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cxnSp>
        <p:nvCxnSpPr>
          <p:cNvPr id="17426" name="Connector 17425"/>
          <p:cNvCxnSpPr/>
          <p:nvPr/>
        </p:nvCxnSpPr>
        <p:spPr>
          <a:xfrm>
            <a:off x="8377732" y="2194560"/>
            <a:ext cx="0" cy="164592"/>
          </a:xfrm>
          <a:prstGeom prst="line">
            <a:avLst/>
          </a:prstGeom>
          <a:ln w="19050">
            <a:solidFill>
              <a:srgbClr val="7A45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7" name="Pentagon 17426"/>
          <p:cNvSpPr/>
          <p:nvPr/>
        </p:nvSpPr>
        <p:spPr>
          <a:xfrm rot="5400000">
            <a:off x="7472476" y="2189073"/>
            <a:ext cx="1810512" cy="2150668"/>
          </a:xfrm>
          <a:prstGeom prst="homePlate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TextBox 17427"/>
          <p:cNvSpPr txBox="1"/>
          <p:nvPr/>
        </p:nvSpPr>
        <p:spPr>
          <a:xfrm>
            <a:off x="7393838" y="2487168"/>
            <a:ext cx="1967788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Explainability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Sundararajan et al.,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Integrated Gradients, ICML 2017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Vaswani et al., Attention Is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All You Need, NeurIPS 2017</a:t>
            </a:r>
          </a:p>
        </p:txBody>
      </p:sp>
      <p:sp>
        <p:nvSpPr>
          <p:cNvPr id="17429" name="Oval 17428"/>
          <p:cNvSpPr/>
          <p:nvPr/>
        </p:nvSpPr>
        <p:spPr>
          <a:xfrm>
            <a:off x="10455249" y="1755648"/>
            <a:ext cx="438912" cy="438912"/>
          </a:xfrm>
          <a:prstGeom prst="ellipse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cxnSp>
        <p:nvCxnSpPr>
          <p:cNvPr id="17430" name="Connector 17429"/>
          <p:cNvCxnSpPr/>
          <p:nvPr/>
        </p:nvCxnSpPr>
        <p:spPr>
          <a:xfrm>
            <a:off x="10674705" y="2194560"/>
            <a:ext cx="0" cy="164592"/>
          </a:xfrm>
          <a:prstGeom prst="line">
            <a:avLst/>
          </a:prstGeom>
          <a:ln w="19050">
            <a:solidFill>
              <a:srgbClr val="7793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1" name="Pentagon 17430"/>
          <p:cNvSpPr/>
          <p:nvPr/>
        </p:nvSpPr>
        <p:spPr>
          <a:xfrm rot="5400000">
            <a:off x="9769449" y="2189073"/>
            <a:ext cx="1810512" cy="2150668"/>
          </a:xfrm>
          <a:prstGeom prst="homePlate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2" name="TextBox 17431"/>
          <p:cNvSpPr txBox="1"/>
          <p:nvPr/>
        </p:nvSpPr>
        <p:spPr>
          <a:xfrm>
            <a:off x="9690811" y="2487168"/>
            <a:ext cx="1967788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National context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NCIIPC - nciipc.gov.in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CIC-IDS2017 / CSE-CIC-IDS2018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reviewed; access now gated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behind registration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11480" y="4261104"/>
            <a:ext cx="1133856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Team - Git with It</a:t>
            </a:r>
          </a:p>
        </p:txBody>
      </p:sp>
      <p:sp>
        <p:nvSpPr>
          <p:cNvPr id="17434" name="Rectangle 17433"/>
          <p:cNvSpPr/>
          <p:nvPr/>
        </p:nvSpPr>
        <p:spPr>
          <a:xfrm>
            <a:off x="448056" y="4517136"/>
            <a:ext cx="1126540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5" name="Folded Corner 17434"/>
          <p:cNvSpPr/>
          <p:nvPr/>
        </p:nvSpPr>
        <p:spPr>
          <a:xfrm>
            <a:off x="411480" y="4681728"/>
            <a:ext cx="1813560" cy="621792"/>
          </a:xfrm>
          <a:prstGeom prst="foldedCorner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Suyash Shukla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Team Leader</a:t>
            </a:r>
          </a:p>
        </p:txBody>
      </p:sp>
      <p:sp>
        <p:nvSpPr>
          <p:cNvPr id="17436" name="Folded Corner 17435"/>
          <p:cNvSpPr/>
          <p:nvPr/>
        </p:nvSpPr>
        <p:spPr>
          <a:xfrm>
            <a:off x="2316480" y="4681728"/>
            <a:ext cx="1813560" cy="621792"/>
          </a:xfrm>
          <a:prstGeom prst="foldedCorner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Tanmay Kumar Sinha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Member</a:t>
            </a:r>
          </a:p>
        </p:txBody>
      </p:sp>
      <p:sp>
        <p:nvSpPr>
          <p:cNvPr id="17437" name="Folded Corner 17436"/>
          <p:cNvSpPr/>
          <p:nvPr/>
        </p:nvSpPr>
        <p:spPr>
          <a:xfrm>
            <a:off x="4221480" y="4681728"/>
            <a:ext cx="1813560" cy="621792"/>
          </a:xfrm>
          <a:prstGeom prst="foldedCorner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Shivam Kumar Tripathi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Member</a:t>
            </a:r>
          </a:p>
        </p:txBody>
      </p:sp>
      <p:sp>
        <p:nvSpPr>
          <p:cNvPr id="17438" name="Folded Corner 17437"/>
          <p:cNvSpPr/>
          <p:nvPr/>
        </p:nvSpPr>
        <p:spPr>
          <a:xfrm>
            <a:off x="6126480" y="4681728"/>
            <a:ext cx="1813560" cy="621792"/>
          </a:xfrm>
          <a:prstGeom prst="foldedCorner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Tanay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Member</a:t>
            </a:r>
          </a:p>
        </p:txBody>
      </p:sp>
      <p:sp>
        <p:nvSpPr>
          <p:cNvPr id="17439" name="Folded Corner 17438"/>
          <p:cNvSpPr/>
          <p:nvPr/>
        </p:nvSpPr>
        <p:spPr>
          <a:xfrm>
            <a:off x="8031480" y="4681728"/>
            <a:ext cx="1813560" cy="621792"/>
          </a:xfrm>
          <a:prstGeom prst="foldedCorner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Yuvan Laxmanan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Member</a:t>
            </a:r>
          </a:p>
        </p:txBody>
      </p:sp>
      <p:sp>
        <p:nvSpPr>
          <p:cNvPr id="17440" name="Folded Corner 17439"/>
          <p:cNvSpPr/>
          <p:nvPr/>
        </p:nvSpPr>
        <p:spPr>
          <a:xfrm>
            <a:off x="9936480" y="4681728"/>
            <a:ext cx="1813560" cy="621792"/>
          </a:xfrm>
          <a:prstGeom prst="foldedCorner">
            <a:avLst/>
          </a:prstGeom>
          <a:solidFill>
            <a:srgbClr val="C23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Vaishnavi Tripathi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Member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411480" y="5376672"/>
            <a:ext cx="11338560" cy="402336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Problem Statement 26153 (NTRO)  -  AI based Network Attack Forecasting from Network Traffic Data  -  Blockchain &amp; Cybersecurity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411480" y="5815583"/>
            <a:ext cx="11338560" cy="402336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Source, data preparation and benchmark: github.com/HowSuyash/AttackForecast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