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300">
                <a:solidFill>
                  <a:srgbClr val="333F50"/>
                </a:solidFill>
                <a:latin typeface="Arial"/>
              </a:rPr>
              <a:t>261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438912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We do not classify traffic - we learn how a network's state evolves, then run that model forward to see where a host is heading.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847088"/>
            <a:ext cx="53949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AttackForecast - what it is made of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48056" y="2103120"/>
            <a:ext cx="53218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366" name="Connector 15365"/>
          <p:cNvCxnSpPr/>
          <p:nvPr/>
        </p:nvCxnSpPr>
        <p:spPr>
          <a:xfrm flipH="1" flipV="1">
            <a:off x="2029968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7" name="Rounded Rectangle 15366"/>
          <p:cNvSpPr/>
          <p:nvPr/>
        </p:nvSpPr>
        <p:spPr>
          <a:xfrm>
            <a:off x="411480" y="2389632"/>
            <a:ext cx="1618488" cy="38404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Flow features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11480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- 39 per 60-second window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bytes, ports, entropy</a:t>
            </a:r>
          </a:p>
        </p:txBody>
      </p:sp>
      <p:cxnSp>
        <p:nvCxnSpPr>
          <p:cNvPr id="15369" name="Connector 15368"/>
          <p:cNvCxnSpPr/>
          <p:nvPr/>
        </p:nvCxnSpPr>
        <p:spPr>
          <a:xfrm flipH="1" flipV="1">
            <a:off x="2029968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411480" y="3566160"/>
            <a:ext cx="1618488" cy="38404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Packet features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11480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- 23 from raw PCAP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TTL variance, TCP window</a:t>
            </a:r>
          </a:p>
        </p:txBody>
      </p:sp>
      <p:cxnSp>
        <p:nvCxnSpPr>
          <p:cNvPr id="15372" name="Connector 15371"/>
          <p:cNvCxnSpPr/>
          <p:nvPr/>
        </p:nvCxnSpPr>
        <p:spPr>
          <a:xfrm flipH="1">
            <a:off x="2029968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Rounded Rectangle 15372"/>
          <p:cNvSpPr/>
          <p:nvPr/>
        </p:nvSpPr>
        <p:spPr>
          <a:xfrm>
            <a:off x="411480" y="4742688"/>
            <a:ext cx="1618488" cy="38404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World model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11480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encoder + GRU + prior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learns state transitions</a:t>
            </a:r>
          </a:p>
        </p:txBody>
      </p:sp>
      <p:cxnSp>
        <p:nvCxnSpPr>
          <p:cNvPr id="15375" name="Connector 15374"/>
          <p:cNvCxnSpPr/>
          <p:nvPr/>
        </p:nvCxnSpPr>
        <p:spPr>
          <a:xfrm flipV="1">
            <a:off x="3986784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Rounded Rectangle 15375"/>
          <p:cNvSpPr/>
          <p:nvPr/>
        </p:nvSpPr>
        <p:spPr>
          <a:xfrm>
            <a:off x="4187952" y="2389632"/>
            <a:ext cx="1618488" cy="38404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Forecasting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87952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- 10 states imagined ahead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uncertainty band</a:t>
            </a:r>
          </a:p>
        </p:txBody>
      </p:sp>
      <p:cxnSp>
        <p:nvCxnSpPr>
          <p:cNvPr id="15378" name="Connector 15377"/>
          <p:cNvCxnSpPr/>
          <p:nvPr/>
        </p:nvCxnSpPr>
        <p:spPr>
          <a:xfrm flipV="1">
            <a:off x="3986784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4187952" y="3566160"/>
            <a:ext cx="1618488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ATT&amp;CK mapping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187952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- 5 kill-chain stages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technique IDs attached</a:t>
            </a:r>
          </a:p>
        </p:txBody>
      </p:sp>
      <p:cxnSp>
        <p:nvCxnSpPr>
          <p:cNvPr id="15381" name="Connector 15380"/>
          <p:cNvCxnSpPr/>
          <p:nvPr/>
        </p:nvCxnSpPr>
        <p:spPr>
          <a:xfrm>
            <a:off x="3986784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2" name="Rounded Rectangle 15381"/>
          <p:cNvSpPr/>
          <p:nvPr/>
        </p:nvSpPr>
        <p:spPr>
          <a:xfrm>
            <a:off x="4187952" y="4742688"/>
            <a:ext cx="1618488" cy="384048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187952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integrated gradients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temporal attention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2231136" y="3575304"/>
            <a:ext cx="1755648" cy="84124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RSSM world model  -  138k parameters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309360" y="184708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6" name="Rectangle 15385"/>
          <p:cNvSpPr/>
          <p:nvPr/>
        </p:nvSpPr>
        <p:spPr>
          <a:xfrm>
            <a:off x="6345936" y="210312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7" name="Right Arrow 15386"/>
          <p:cNvSpPr/>
          <p:nvPr/>
        </p:nvSpPr>
        <p:spPr>
          <a:xfrm>
            <a:off x="6309360" y="3054096"/>
            <a:ext cx="5440679" cy="402336"/>
          </a:xfrm>
          <a:prstGeom prst="rightArrow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Rounded Rectangle 15387"/>
          <p:cNvSpPr/>
          <p:nvPr/>
        </p:nvSpPr>
        <p:spPr>
          <a:xfrm>
            <a:off x="6400800" y="2971800"/>
            <a:ext cx="786384" cy="56692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272784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Observe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60-second host windows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7445502" y="2971800"/>
            <a:ext cx="786384" cy="56692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6970014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Learn transitions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what state follows this state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8490204" y="2971800"/>
            <a:ext cx="786384" cy="56692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8014716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Cut the traffic off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model sees nothing more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9534905" y="2971800"/>
            <a:ext cx="786384" cy="56692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9059417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Imagine 10 steps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it generates the future itself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10579608" y="2971800"/>
            <a:ext cx="786384" cy="56692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10049255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Score each state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risk + ATT&amp;CK stage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6309360" y="422452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99" name="Rectangle 15398"/>
          <p:cNvSpPr/>
          <p:nvPr/>
        </p:nvSpPr>
        <p:spPr>
          <a:xfrm>
            <a:off x="6345936" y="448056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0" name="Rounded Rectangle 15399"/>
          <p:cNvSpPr/>
          <p:nvPr/>
        </p:nvSpPr>
        <p:spPr>
          <a:xfrm>
            <a:off x="6309360" y="4617720"/>
            <a:ext cx="1911095" cy="457200"/>
          </a:xfrm>
          <a:prstGeom prst="roundRect">
            <a:avLst/>
          </a:prstGeom>
          <a:noFill/>
          <a:ln w="57150">
            <a:solidFill>
              <a:srgbClr val="E37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E37B2A"/>
                </a:solidFill>
                <a:latin typeface="Arial"/>
              </a:rPr>
              <a:t>World model, not a classifier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6437376" y="5129783"/>
            <a:ext cx="1655063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heads read the latent state, so they work on imagined states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8074152" y="4617720"/>
            <a:ext cx="1911095" cy="457200"/>
          </a:xfrm>
          <a:prstGeom prst="roundRect">
            <a:avLst/>
          </a:prstGeom>
          <a:noFill/>
          <a:ln w="57150">
            <a:solidFill>
              <a:srgbClr val="7A4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7A45D1"/>
                </a:solidFill>
                <a:latin typeface="Arial"/>
              </a:rPr>
              <a:t>Falsifiable by construction</a:t>
            </a:r>
          </a:p>
        </p:txBody>
      </p:sp>
      <p:sp>
        <p:nvSpPr>
          <p:cNvPr id="15403" name="TextBox 15402"/>
          <p:cNvSpPr txBox="1"/>
          <p:nvPr/>
        </p:nvSpPr>
        <p:spPr>
          <a:xfrm>
            <a:off x="8202168" y="5129783"/>
            <a:ext cx="1655063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imagination-only loss gives zero encoder gradient - in our tests</a:t>
            </a:r>
          </a:p>
        </p:txBody>
      </p:sp>
      <p:sp>
        <p:nvSpPr>
          <p:cNvPr id="15404" name="Rounded Rectangle 15403"/>
          <p:cNvSpPr/>
          <p:nvPr/>
        </p:nvSpPr>
        <p:spPr>
          <a:xfrm>
            <a:off x="9838944" y="4617720"/>
            <a:ext cx="1911095" cy="457200"/>
          </a:xfrm>
          <a:prstGeom prst="roundRect">
            <a:avLst/>
          </a:prstGeom>
          <a:noFill/>
          <a:ln w="57150">
            <a:solidFill>
              <a:srgbClr val="779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77933C"/>
                </a:solidFill>
                <a:latin typeface="Arial"/>
              </a:rPr>
              <a:t>Runs offline on a CPU</a:t>
            </a:r>
          </a:p>
        </p:txBody>
      </p:sp>
      <p:sp>
        <p:nvSpPr>
          <p:cNvPr id="15405" name="TextBox 15404"/>
          <p:cNvSpPr txBox="1"/>
          <p:nvPr/>
        </p:nvSpPr>
        <p:spPr>
          <a:xfrm>
            <a:off x="9966960" y="5129783"/>
            <a:ext cx="1655063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no cloud, no GPU, no external API - air-gap ready for CII networks</a:t>
            </a:r>
          </a:p>
        </p:txBody>
      </p:sp>
      <p:sp>
        <p:nvSpPr>
          <p:cNvPr id="15406" name="Rounded Rectangle 15405"/>
          <p:cNvSpPr/>
          <p:nvPr/>
        </p:nvSpPr>
        <p:spPr>
          <a:xfrm>
            <a:off x="411480" y="5833872"/>
            <a:ext cx="11338560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Working prototype today  -  258,229 network states from all 13 CTU-13 captures  -  28 of 30 infected hosts flagged at 4.9% false alarms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644652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Architecture - traffic in, forecast out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637336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ounded Rectangle 17412"/>
          <p:cNvSpPr/>
          <p:nvPr/>
        </p:nvSpPr>
        <p:spPr>
          <a:xfrm>
            <a:off x="685800" y="1755648"/>
            <a:ext cx="5897880" cy="45720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INGEST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NetFlow / .binetflow  -  raw PCAP via Scapy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3543300" y="22265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685800" y="2350008"/>
            <a:ext cx="5897880" cy="45720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FEATURE EXTRACTION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39 flow features  +  23 packet features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3543300" y="282092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Rounded Rectangle 17416"/>
          <p:cNvSpPr/>
          <p:nvPr/>
        </p:nvSpPr>
        <p:spPr>
          <a:xfrm>
            <a:off x="685800" y="2944368"/>
            <a:ext cx="5897880" cy="45720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NETWORK STATE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one cell per (host, 60-second window)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3543300" y="341528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85800" y="3538727"/>
            <a:ext cx="5897880" cy="45720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ENCODER + GRU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latent state carrying the host's history</a:t>
            </a:r>
          </a:p>
        </p:txBody>
      </p:sp>
      <p:sp>
        <p:nvSpPr>
          <p:cNvPr id="17420" name="Down Arrow 17419"/>
          <p:cNvSpPr/>
          <p:nvPr/>
        </p:nvSpPr>
        <p:spPr>
          <a:xfrm>
            <a:off x="3543300" y="400964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Rounded Rectangle 17420"/>
          <p:cNvSpPr/>
          <p:nvPr/>
        </p:nvSpPr>
        <p:spPr>
          <a:xfrm>
            <a:off x="685800" y="4133087"/>
            <a:ext cx="5897880" cy="45720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PRIOR ROLLOUT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states imagined with no traffic observed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3543300" y="460400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Rounded Rectangle 17422"/>
          <p:cNvSpPr/>
          <p:nvPr/>
        </p:nvSpPr>
        <p:spPr>
          <a:xfrm>
            <a:off x="685800" y="4727448"/>
            <a:ext cx="5897880" cy="457200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PREDICTION HEADS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infiltration risk  -  ATT&amp;CK stage  -  surprise</a:t>
            </a:r>
          </a:p>
        </p:txBody>
      </p:sp>
      <p:sp>
        <p:nvSpPr>
          <p:cNvPr id="17424" name="Down Arrow 17423"/>
          <p:cNvSpPr/>
          <p:nvPr/>
        </p:nvSpPr>
        <p:spPr>
          <a:xfrm>
            <a:off x="3543300" y="51983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85800" y="5321808"/>
            <a:ext cx="5897880" cy="457200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DECISION SUPPORT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dashboard, replay, three explanation channels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60920" y="1298448"/>
            <a:ext cx="438911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Tech stack used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7397496" y="1554480"/>
            <a:ext cx="431596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7360920" y="1755648"/>
            <a:ext cx="1931212" cy="35204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Language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356140" y="1755648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Python 3.13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360920" y="2157984"/>
            <a:ext cx="1931212" cy="35204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Deep learning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9356140" y="2157984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PyTorch (CPU-only)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360920" y="2560320"/>
            <a:ext cx="1931212" cy="35204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Packet parsing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356140" y="2560320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Scapy - raw PCAP, flow rebuild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360920" y="2962656"/>
            <a:ext cx="1931212" cy="35204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 pipeline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356140" y="2962656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pandas + NumPy, vectorised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360920" y="3364991"/>
            <a:ext cx="1931212" cy="35204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Baselines &amp; metrics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356140" y="3364991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scikit-learn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360920" y="3767328"/>
            <a:ext cx="1931212" cy="352044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356140" y="3767328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FastAPI + Uvicorn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360920" y="4169664"/>
            <a:ext cx="1931212" cy="35204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356140" y="4169664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Single-file HTML, zero CDN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360920" y="4572000"/>
            <a:ext cx="1931212" cy="35204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356140" y="4572000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Integrated Gradients + attention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360920" y="4974336"/>
            <a:ext cx="1931212" cy="35204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Dataset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356140" y="4974336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CTU-13 - 13 real captures, CC BY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360920" y="5376672"/>
            <a:ext cx="1931212" cy="35204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Deployment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356140" y="5376672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Fully offline, no external API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Validation: split by time, never randomly  -  baselines given identical features, scaler and labels  -  seeded rollouts, so the benchmark reproduces byte for byte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Feasibility of AttackForecast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Pentagon 17412"/>
          <p:cNvSpPr/>
          <p:nvPr/>
        </p:nvSpPr>
        <p:spPr>
          <a:xfrm rot="5400000">
            <a:off x="352958" y="1795881"/>
            <a:ext cx="1133856" cy="1016812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1148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Technical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CPU-only, 138k params</a:t>
            </a:r>
          </a:p>
        </p:txBody>
      </p:sp>
      <p:sp>
        <p:nvSpPr>
          <p:cNvPr id="17415" name="Pentagon 17414"/>
          <p:cNvSpPr/>
          <p:nvPr/>
        </p:nvSpPr>
        <p:spPr>
          <a:xfrm rot="5400000">
            <a:off x="1470355" y="1795881"/>
            <a:ext cx="1133856" cy="1016812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1528876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Financial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zero licence cost</a:t>
            </a:r>
          </a:p>
        </p:txBody>
      </p:sp>
      <p:sp>
        <p:nvSpPr>
          <p:cNvPr id="17417" name="Pentagon 17416"/>
          <p:cNvSpPr/>
          <p:nvPr/>
        </p:nvSpPr>
        <p:spPr>
          <a:xfrm rot="5400000">
            <a:off x="2587752" y="1795881"/>
            <a:ext cx="1133856" cy="1016812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2646273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Operational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consumes NetFlow already exported</a:t>
            </a:r>
          </a:p>
        </p:txBody>
      </p:sp>
      <p:sp>
        <p:nvSpPr>
          <p:cNvPr id="17419" name="Pentagon 17418"/>
          <p:cNvSpPr/>
          <p:nvPr/>
        </p:nvSpPr>
        <p:spPr>
          <a:xfrm rot="5400000">
            <a:off x="3705148" y="1795881"/>
            <a:ext cx="1133856" cy="1016812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376367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Legal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data never leaves the network</a:t>
            </a:r>
          </a:p>
        </p:txBody>
      </p:sp>
      <p:sp>
        <p:nvSpPr>
          <p:cNvPr id="17421" name="Pentagon 17420"/>
          <p:cNvSpPr/>
          <p:nvPr/>
        </p:nvSpPr>
        <p:spPr>
          <a:xfrm rot="5400000">
            <a:off x="4822545" y="1795881"/>
            <a:ext cx="1133856" cy="1016812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881067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analyst keeps the decision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11480" y="3054096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Live output from the running prototype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448056" y="3310128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g-topology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4216" y="3474720"/>
            <a:ext cx="3920927" cy="243230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11480" y="59436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0">
                <a:solidFill>
                  <a:srgbClr val="5A6478"/>
                </a:solidFill>
                <a:latin typeface="Arial"/>
              </a:rPr>
              <a:t>3D topology - the compromised host and its malicious fan-out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263640" y="1298448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C0504D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300216" y="1554480"/>
            <a:ext cx="5413247" cy="3200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29" name="Connector 17428"/>
          <p:cNvCxnSpPr/>
          <p:nvPr/>
        </p:nvCxnSpPr>
        <p:spPr>
          <a:xfrm>
            <a:off x="691515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6263640" y="1956815"/>
            <a:ext cx="1303019" cy="402336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Label leak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26364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a metadata flag became a perfect label proxy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30961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7658100" y="1956815"/>
            <a:ext cx="1303019" cy="402336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Detection is only a tie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65810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0.979 against 0.977 for logistic regression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970407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9052560" y="1956815"/>
            <a:ext cx="1303019" cy="402336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Short-burst compromise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05256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the risk head needs sustained activity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1109853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10447020" y="1956815"/>
            <a:ext cx="1303019" cy="402336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Stages do not cross families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44702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progression did not transfer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263640" y="3090672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77933C"/>
                </a:solidFill>
                <a:latin typeface="Arial"/>
              </a:rPr>
              <a:t>Strategies for overcoming these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300216" y="3346704"/>
            <a:ext cx="5413247" cy="32004"/>
          </a:xfrm>
          <a:prstGeom prst="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Can 17442"/>
          <p:cNvSpPr/>
          <p:nvPr/>
        </p:nvSpPr>
        <p:spPr>
          <a:xfrm>
            <a:off x="6445102" y="3529584"/>
            <a:ext cx="933236" cy="512064"/>
          </a:xfrm>
          <a:prstGeom prst="can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263640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Found and removed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caught in our own audit; F1 0.23 to 0.98</a:t>
            </a:r>
          </a:p>
        </p:txBody>
      </p:sp>
      <p:sp>
        <p:nvSpPr>
          <p:cNvPr id="17445" name="Can 17444"/>
          <p:cNvSpPr/>
          <p:nvPr/>
        </p:nvSpPr>
        <p:spPr>
          <a:xfrm>
            <a:off x="7841848" y="3529584"/>
            <a:ext cx="933236" cy="512064"/>
          </a:xfrm>
          <a:prstGeom prst="can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660386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Compete on forecasting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beats persistence at 9 of 10 horizons</a:t>
            </a:r>
          </a:p>
        </p:txBody>
      </p:sp>
      <p:sp>
        <p:nvSpPr>
          <p:cNvPr id="17447" name="Can 17446"/>
          <p:cNvSpPr/>
          <p:nvPr/>
        </p:nvSpPr>
        <p:spPr>
          <a:xfrm>
            <a:off x="9238594" y="3529584"/>
            <a:ext cx="933236" cy="512064"/>
          </a:xfrm>
          <a:prstGeom prst="can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057132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Second channel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unsupervised surprise covers the gap</a:t>
            </a:r>
          </a:p>
        </p:txBody>
      </p:sp>
      <p:sp>
        <p:nvSpPr>
          <p:cNvPr id="17449" name="Can 17448"/>
          <p:cNvSpPr/>
          <p:nvPr/>
        </p:nvSpPr>
        <p:spPr>
          <a:xfrm>
            <a:off x="10635340" y="3529584"/>
            <a:ext cx="933236" cy="512064"/>
          </a:xfrm>
          <a:prstGeom prst="can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453878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Reported, not hidden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detection transfers; progression does not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63640" y="5010912"/>
            <a:ext cx="5486399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Stage forecast macro-F1 by horizon</a:t>
            </a:r>
          </a:p>
        </p:txBody>
      </p:sp>
      <p:graphicFrame>
        <p:nvGraphicFramePr>
          <p:cNvPr id="17452" name="Table 17451"/>
          <p:cNvGraphicFramePr>
            <a:graphicFrameLocks noGrp="1"/>
          </p:cNvGraphicFramePr>
          <p:nvPr/>
        </p:nvGraphicFramePr>
        <p:xfrm>
          <a:off x="6263640" y="5431536"/>
          <a:ext cx="5522976" cy="603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77824"/>
                <a:gridCol w="877824"/>
                <a:gridCol w="877824"/>
                <a:gridCol w="877824"/>
              </a:tblGrid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“nothing changes” baseline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0.455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0.436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42062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8288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48056" y="2084832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14" name="Connector 17413"/>
          <p:cNvCxnSpPr/>
          <p:nvPr/>
        </p:nvCxnSpPr>
        <p:spPr>
          <a:xfrm flipV="1">
            <a:off x="3154680" y="2651760"/>
            <a:ext cx="0" cy="822960"/>
          </a:xfrm>
          <a:prstGeom prst="line">
            <a:avLst/>
          </a:prstGeom>
          <a:ln w="15875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350008" y="2350008"/>
            <a:ext cx="1609344" cy="60350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 analysts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 ranked queue, not an alert flood</a:t>
            </a:r>
          </a:p>
        </p:txBody>
      </p:sp>
      <p:cxnSp>
        <p:nvCxnSpPr>
          <p:cNvPr id="17416" name="Connector 17415"/>
          <p:cNvCxnSpPr/>
          <p:nvPr/>
        </p:nvCxnSpPr>
        <p:spPr>
          <a:xfrm flipV="1">
            <a:off x="3693860" y="3612148"/>
            <a:ext cx="1287076" cy="254309"/>
          </a:xfrm>
          <a:prstGeom prst="line">
            <a:avLst/>
          </a:prstGeom>
          <a:ln w="15875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4176264" y="3310396"/>
            <a:ext cx="1609344" cy="60350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Critical infrastructure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power, banking, telecom, transport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487911" y="4500302"/>
            <a:ext cx="795457" cy="665789"/>
          </a:xfrm>
          <a:prstGeom prst="line">
            <a:avLst/>
          </a:prstGeom>
          <a:ln w="15875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478696" y="4864339"/>
            <a:ext cx="1609344" cy="60350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CERT-In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national response teams</a:t>
            </a:r>
          </a:p>
        </p:txBody>
      </p:sp>
      <p:cxnSp>
        <p:nvCxnSpPr>
          <p:cNvPr id="17420" name="Connector 17419"/>
          <p:cNvCxnSpPr/>
          <p:nvPr/>
        </p:nvCxnSpPr>
        <p:spPr>
          <a:xfrm flipH="1">
            <a:off x="2025991" y="4500302"/>
            <a:ext cx="795457" cy="665789"/>
          </a:xfrm>
          <a:prstGeom prst="line">
            <a:avLst/>
          </a:prstGeom>
          <a:ln w="15875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1221319" y="4864339"/>
            <a:ext cx="1609344" cy="60350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Enterprises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no new hardware to buy</a:t>
            </a:r>
          </a:p>
        </p:txBody>
      </p:sp>
      <p:cxnSp>
        <p:nvCxnSpPr>
          <p:cNvPr id="17422" name="Connector 17421"/>
          <p:cNvCxnSpPr/>
          <p:nvPr/>
        </p:nvCxnSpPr>
        <p:spPr>
          <a:xfrm flipH="1" flipV="1">
            <a:off x="1328423" y="3612148"/>
            <a:ext cx="1287076" cy="254309"/>
          </a:xfrm>
          <a:prstGeom prst="line">
            <a:avLst/>
          </a:prstGeom>
          <a:ln w="15875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23751" y="3310396"/>
            <a:ext cx="1609344" cy="60350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Auditors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every alert is challengeable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2514600" y="3401568"/>
            <a:ext cx="1280160" cy="12801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minutes of warning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63640" y="1828800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Benefits of AttackForecast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00216" y="2084832"/>
            <a:ext cx="541324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Donut 17426"/>
          <p:cNvSpPr/>
          <p:nvPr/>
        </p:nvSpPr>
        <p:spPr>
          <a:xfrm>
            <a:off x="8165592" y="3127248"/>
            <a:ext cx="1682496" cy="1682496"/>
          </a:xfrm>
          <a:prstGeom prst="donu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8869680" y="3107862"/>
            <a:ext cx="274320" cy="274320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47304" y="223113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Early warning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up to 10 minutes before the chain closes</a:t>
            </a:r>
          </a:p>
        </p:txBody>
      </p:sp>
      <p:sp>
        <p:nvSpPr>
          <p:cNvPr id="17430" name="Oval 17429"/>
          <p:cNvSpPr/>
          <p:nvPr/>
        </p:nvSpPr>
        <p:spPr>
          <a:xfrm>
            <a:off x="9496226" y="3469599"/>
            <a:ext cx="274320" cy="274320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936983" y="296265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Low noise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4.9% false alarms across 13 captures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9496226" y="4193072"/>
            <a:ext cx="274320" cy="274320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936983" y="442569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Auditable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replay shows what the model knew, minute by minute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8869680" y="4554809"/>
            <a:ext cx="274320" cy="274320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147304" y="515721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Air-gap 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nothing leaves the network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8243133" y="4193072"/>
            <a:ext cx="274320" cy="274320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357624" y="442569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Zero licence cost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open source, runs on existing hardware</a:t>
            </a:r>
          </a:p>
        </p:txBody>
      </p:sp>
      <p:sp>
        <p:nvSpPr>
          <p:cNvPr id="17438" name="Oval 17437"/>
          <p:cNvSpPr/>
          <p:nvPr/>
        </p:nvSpPr>
        <p:spPr>
          <a:xfrm>
            <a:off x="8243133" y="3469599"/>
            <a:ext cx="274320" cy="274320"/>
          </a:xfrm>
          <a:prstGeom prst="ellipse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7624" y="296265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C23B77"/>
                </a:solidFill>
                <a:latin typeface="Arial"/>
              </a:rPr>
              <a:t>Playbook-ready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C23B77"/>
                </a:solidFill>
                <a:latin typeface="Arial"/>
              </a:rPr>
              <a:t>ATT&amp;CK stage names map onto what SOCs already use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2F5FA"/>
          </a:solidFill>
          <a:ln w="19050">
            <a:solidFill>
              <a:srgbClr val="1F497D"/>
            </a:solidFill>
          </a:ln>
          <a:effectLst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>
                <a:solidFill>
                  <a:srgbClr val="1F497D"/>
                </a:solidFill>
                <a:latin typeface="Arial"/>
              </a:rPr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Datasets, standards and prior work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Oval 17412"/>
          <p:cNvSpPr/>
          <p:nvPr/>
        </p:nvSpPr>
        <p:spPr>
          <a:xfrm>
            <a:off x="1267358" y="1755648"/>
            <a:ext cx="438912" cy="438912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1486814" y="2194560"/>
            <a:ext cx="0" cy="164592"/>
          </a:xfrm>
          <a:prstGeom prst="line">
            <a:avLst/>
          </a:prstGeom>
          <a:ln w="1905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Pentagon 17414"/>
          <p:cNvSpPr/>
          <p:nvPr/>
        </p:nvSpPr>
        <p:spPr>
          <a:xfrm rot="5400000">
            <a:off x="581558" y="2189073"/>
            <a:ext cx="1810512" cy="2150668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502920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CTU-13 Dataset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Stratosphere IPS, CTU Prague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13 real botnet captures, CC BY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Garcia et al., Computers &amp;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Security, 2014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3564331" y="1755648"/>
            <a:ext cx="438912" cy="438912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783787" y="2194560"/>
            <a:ext cx="0" cy="164592"/>
          </a:xfrm>
          <a:prstGeom prst="line">
            <a:avLst/>
          </a:prstGeom>
          <a:ln w="19050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Pentagon 17418"/>
          <p:cNvSpPr/>
          <p:nvPr/>
        </p:nvSpPr>
        <p:spPr>
          <a:xfrm rot="5400000">
            <a:off x="2878531" y="2189073"/>
            <a:ext cx="1810512" cy="2150668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2799892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MITRE ATT&amp;CK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Enterprise Matrix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TA0043 Reconnaissance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TA0001 / TA0008 / TA0011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TA0010 Exfiltration</a:t>
            </a:r>
          </a:p>
        </p:txBody>
      </p:sp>
      <p:sp>
        <p:nvSpPr>
          <p:cNvPr id="17421" name="Oval 17420"/>
          <p:cNvSpPr/>
          <p:nvPr/>
        </p:nvSpPr>
        <p:spPr>
          <a:xfrm>
            <a:off x="5861304" y="1755648"/>
            <a:ext cx="438912" cy="438912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080760" y="2194560"/>
            <a:ext cx="0" cy="164592"/>
          </a:xfrm>
          <a:prstGeom prst="line">
            <a:avLst/>
          </a:prstGeom>
          <a:ln w="19050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Pentagon 17422"/>
          <p:cNvSpPr/>
          <p:nvPr/>
        </p:nvSpPr>
        <p:spPr>
          <a:xfrm rot="5400000">
            <a:off x="5175504" y="2189073"/>
            <a:ext cx="1810512" cy="2150668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096865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World models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 &amp; Schmidhuber,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World Models, NeurIPS 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PlaNet, ICML 2019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Dreamer, ICLR 2020</a:t>
            </a:r>
          </a:p>
        </p:txBody>
      </p:sp>
      <p:sp>
        <p:nvSpPr>
          <p:cNvPr id="17425" name="Oval 17424"/>
          <p:cNvSpPr/>
          <p:nvPr/>
        </p:nvSpPr>
        <p:spPr>
          <a:xfrm>
            <a:off x="8158276" y="1755648"/>
            <a:ext cx="438912" cy="438912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377732" y="2194560"/>
            <a:ext cx="0" cy="164592"/>
          </a:xfrm>
          <a:prstGeom prst="line">
            <a:avLst/>
          </a:prstGeom>
          <a:ln w="19050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Pentagon 17426"/>
          <p:cNvSpPr/>
          <p:nvPr/>
        </p:nvSpPr>
        <p:spPr>
          <a:xfrm rot="5400000">
            <a:off x="7472476" y="2189073"/>
            <a:ext cx="1810512" cy="2150668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393838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Explainability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Sundararajan et al.,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Integrated Gradients, ICML 2017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Vaswani et al., Attention Is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All You Need, NeurIPS 2017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10455249" y="1755648"/>
            <a:ext cx="438912" cy="438912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10674705" y="2194560"/>
            <a:ext cx="0" cy="164592"/>
          </a:xfrm>
          <a:prstGeom prst="line">
            <a:avLst/>
          </a:prstGeom>
          <a:ln w="19050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Pentagon 17430"/>
          <p:cNvSpPr/>
          <p:nvPr/>
        </p:nvSpPr>
        <p:spPr>
          <a:xfrm rot="5400000">
            <a:off x="9769449" y="2189073"/>
            <a:ext cx="1810512" cy="2150668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9690811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National context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NCIIPC - nciipc.gov.in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CIC-IDS2017 / CSE-CIC-IDS2018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reviewed; access now gated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behind registration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4261104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Team - Git with It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448056" y="4517136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Folded Corner 17434"/>
          <p:cNvSpPr/>
          <p:nvPr/>
        </p:nvSpPr>
        <p:spPr>
          <a:xfrm>
            <a:off x="411480" y="4681728"/>
            <a:ext cx="1813560" cy="621792"/>
          </a:xfrm>
          <a:prstGeom prst="foldedCorner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Suyash Shukla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Team Leader</a:t>
            </a:r>
          </a:p>
        </p:txBody>
      </p:sp>
      <p:sp>
        <p:nvSpPr>
          <p:cNvPr id="17436" name="Folded Corner 17435"/>
          <p:cNvSpPr/>
          <p:nvPr/>
        </p:nvSpPr>
        <p:spPr>
          <a:xfrm>
            <a:off x="2316480" y="4681728"/>
            <a:ext cx="1813560" cy="621792"/>
          </a:xfrm>
          <a:prstGeom prst="foldedCorner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Tanmay Kumar Sinha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7" name="Folded Corner 17436"/>
          <p:cNvSpPr/>
          <p:nvPr/>
        </p:nvSpPr>
        <p:spPr>
          <a:xfrm>
            <a:off x="4221480" y="4681728"/>
            <a:ext cx="1813560" cy="621792"/>
          </a:xfrm>
          <a:prstGeom prst="foldedCorner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Shivam Kumar Tripathi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8" name="Folded Corner 17437"/>
          <p:cNvSpPr/>
          <p:nvPr/>
        </p:nvSpPr>
        <p:spPr>
          <a:xfrm>
            <a:off x="6126480" y="4681728"/>
            <a:ext cx="1813560" cy="621792"/>
          </a:xfrm>
          <a:prstGeom prst="foldedCorner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Tanay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9" name="Folded Corner 17438"/>
          <p:cNvSpPr/>
          <p:nvPr/>
        </p:nvSpPr>
        <p:spPr>
          <a:xfrm>
            <a:off x="8031480" y="4681728"/>
            <a:ext cx="1813560" cy="621792"/>
          </a:xfrm>
          <a:prstGeom prst="foldedCorner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Yuvan Laxmanan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40" name="Folded Corner 17439"/>
          <p:cNvSpPr/>
          <p:nvPr/>
        </p:nvSpPr>
        <p:spPr>
          <a:xfrm>
            <a:off x="9936480" y="4681728"/>
            <a:ext cx="1813560" cy="621792"/>
          </a:xfrm>
          <a:prstGeom prst="foldedCorner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Vaishnavi Tripathi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11480" y="5376672"/>
            <a:ext cx="11338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Problem Statement 26153 (NTRO)  -  AI based Network Attack Forecasting from Network Traffic Data  -  Blockchain &amp; Cybersecurity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Source, data preparation and benchmark: github.com/HowSuyash/AttackForecast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