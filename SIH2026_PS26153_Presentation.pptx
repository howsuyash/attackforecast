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ID – </a:t>
            </a:r>
            <a:r>
              <a:rPr sz="1300">
                <a:solidFill>
                  <a:srgbClr val="333F50"/>
                </a:solidFill>
                <a:latin typeface="Arial"/>
              </a:rPr>
              <a:t>26153</a:t>
            </a:r>
            <a:endParaRPr lang="en-US" dirty="0"/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Title – </a:t>
            </a:r>
            <a:r>
              <a:rPr sz="1300">
                <a:solidFill>
                  <a:srgbClr val="333F50"/>
                </a:solidFill>
                <a:latin typeface="Arial"/>
              </a:rPr>
              <a:t>AI based Network Attack Forecasting from Network Traffic Data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Theme – </a:t>
            </a:r>
            <a:r>
              <a:rPr sz="1300">
                <a:solidFill>
                  <a:srgbClr val="333F50"/>
                </a:solidFill>
                <a:latin typeface="Arial"/>
              </a:rPr>
              <a:t>Blockchain &amp; Cybersecurity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PS Category – </a:t>
            </a:r>
            <a:r>
              <a:rPr sz="1300">
                <a:solidFill>
                  <a:srgbClr val="333F50"/>
                </a:solidFill>
                <a:latin typeface="Arial"/>
              </a:rPr>
              <a:t>Software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Organisation – </a:t>
            </a:r>
            <a:r>
              <a:rPr sz="1300">
                <a:solidFill>
                  <a:srgbClr val="333F50"/>
                </a:solidFill>
                <a:latin typeface="Arial"/>
              </a:rPr>
              <a:t>National Technical Research Organisation (NTRO)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Team ID – </a:t>
            </a:r>
            <a:r>
              <a:rPr sz="1300">
                <a:solidFill>
                  <a:srgbClr val="333F50"/>
                </a:solidFill>
                <a:latin typeface="Arial"/>
              </a:rPr>
              <a:t>[Team ID]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Team Name – </a:t>
            </a:r>
            <a:r>
              <a:rPr sz="1300">
                <a:solidFill>
                  <a:srgbClr val="333F50"/>
                </a:solidFill>
                <a:latin typeface="Arial"/>
              </a:rPr>
              <a:t>Git with It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sz="3600" b="1">
                <a:latin typeface="Times New Roman"/>
              </a:rPr>
              <a:t>PREDICTIVE CYBER DEFENCE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411480" y="1298448"/>
            <a:ext cx="11338560" cy="566928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50" b="1">
                <a:solidFill>
                  <a:srgbClr val="FFFFFF"/>
                </a:solidFill>
                <a:latin typeface="Arial"/>
              </a:rPr>
              <a:t>We do not classify traffic — we learn how a network's state evolves, then run that model forward to see where a host is heading.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411480" y="2029967"/>
            <a:ext cx="361188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Proposed Solution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411480" y="2359151"/>
            <a:ext cx="3611880" cy="298094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Traffic → 60-second windows; each becomes a 39-feature snapshot of one host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 world model learns the transition: what state usually follows this state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Stop feeding it traffic — it generates the next 10 states on its own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Each imagined state is scored: infiltration risk + MITRE ATT&amp;CK stage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251960" y="2029967"/>
            <a:ext cx="3611880" cy="32918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67" name="Rectangle 15366"/>
          <p:cNvSpPr/>
          <p:nvPr/>
        </p:nvSpPr>
        <p:spPr>
          <a:xfrm>
            <a:off x="4251960" y="2359151"/>
            <a:ext cx="3611880" cy="298094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Answers “where is this host heading”, not “was that flow bad”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10-minute lookahead — acts before the kill chain closes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Flow-level and packet-level features together: TTL variance, TCP window, retransmissions, scan signatures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Every alert carries three explanations — no black box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8092440" y="2029967"/>
            <a:ext cx="3611880" cy="32918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Innovation and Uniqueness</a:t>
            </a:r>
          </a:p>
        </p:txBody>
      </p:sp>
      <p:sp>
        <p:nvSpPr>
          <p:cNvPr id="15369" name="Rectangle 15368"/>
          <p:cNvSpPr/>
          <p:nvPr/>
        </p:nvSpPr>
        <p:spPr>
          <a:xfrm>
            <a:off x="8092440" y="2359151"/>
            <a:ext cx="3611880" cy="298094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World model, not a classifier — the heads read the latent state, so they still work on imagined states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Provable: an imagination-only loss yields zero encoder gradient (asserted in our test suite)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ATT&amp;CK stages derived from CTU-13's own flow annotations, not hand-waved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Runs fully offline on CPU — 138k parameters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411480" y="5522976"/>
            <a:ext cx="11338560" cy="51206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Working prototype today  •  95,518 network states from 2.8M real flows  •  F1 0.984 vs 0.744 for the strongest baseline  •  149 hosts triaged in 0.5 s  •  minute-by-minute replay of the forecast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335024"/>
            <a:ext cx="1615440" cy="86868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Ingest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NetFlow / PCAP
(Scapy)</a:t>
            </a:r>
          </a:p>
        </p:txBody>
      </p:sp>
      <p:sp>
        <p:nvSpPr>
          <p:cNvPr id="17412" name="Right Arrow 17411"/>
          <p:cNvSpPr/>
          <p:nvPr/>
        </p:nvSpPr>
        <p:spPr>
          <a:xfrm>
            <a:off x="2090928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2356104" y="1335024"/>
            <a:ext cx="1615440" cy="86868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Feature extraction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39 flow + 23 packet
features</a:t>
            </a:r>
          </a:p>
        </p:txBody>
      </p:sp>
      <p:sp>
        <p:nvSpPr>
          <p:cNvPr id="17414" name="Right Arrow 17413"/>
          <p:cNvSpPr/>
          <p:nvPr/>
        </p:nvSpPr>
        <p:spPr>
          <a:xfrm>
            <a:off x="4035552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4300728" y="1335024"/>
            <a:ext cx="1615440" cy="86868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Network state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60-second
(host, window) cells</a:t>
            </a:r>
          </a:p>
        </p:txBody>
      </p:sp>
      <p:sp>
        <p:nvSpPr>
          <p:cNvPr id="17416" name="Right Arrow 17415"/>
          <p:cNvSpPr/>
          <p:nvPr/>
        </p:nvSpPr>
        <p:spPr>
          <a:xfrm>
            <a:off x="5980176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6245352" y="1335024"/>
            <a:ext cx="1615440" cy="868680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World model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Encoder → GRU →
prior / posterior</a:t>
            </a:r>
          </a:p>
        </p:txBody>
      </p:sp>
      <p:sp>
        <p:nvSpPr>
          <p:cNvPr id="17418" name="Right Arrow 17417"/>
          <p:cNvSpPr/>
          <p:nvPr/>
        </p:nvSpPr>
        <p:spPr>
          <a:xfrm>
            <a:off x="7924800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8189976" y="1335024"/>
            <a:ext cx="1615440" cy="868680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Forward simulation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10 imagined states
+ uncertainty band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9869424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10134600" y="1335024"/>
            <a:ext cx="1615440" cy="86868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Decision support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Risk • ATT&amp;CK stage
• explanations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411480" y="2423160"/>
            <a:ext cx="365760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Technologies Used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411480" y="2752344"/>
            <a:ext cx="3657600" cy="2734056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Python 3.13, PyTorch (CPU-only)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Scapy — raw PCAP parsing, flow reconstruction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pandas / NumPy — vectorised feature pipeline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scikit-learn — baselines and metrics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FastAPI + zero-dependency HTML dashboard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100% open source • no cloud, no external API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270248" y="2423160"/>
            <a:ext cx="3657600" cy="32918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Model — Recurrent State-Space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4270248" y="2752344"/>
            <a:ext cx="3657600" cy="2734056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Encoder compresses each window into a latent state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GRU carries context; a prior predicts the next latent without seeing traffic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Decoder reconstructs traffic, so the latent must encode real network state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Trained on its own rollouts, so multi-step forecasting is learned, not hoped for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Causal attention — masked so no step sees its future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8129015" y="2423160"/>
            <a:ext cx="3657600" cy="32918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Methodology and Validation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8129015" y="2752344"/>
            <a:ext cx="3657600" cy="2734056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Dataset: CTU-13 (13 real botnet captures, CC BY)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Split by time, never randomly — train on each capture's past, test on its future, with a guard band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Baselines given identical features, scaler and labels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Deterministic inference + seeded rollouts — the benchmark reproduces byte for byte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Test suites for model shapes and PCAP header parsing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11480" y="5632704"/>
            <a:ext cx="11338560" cy="402336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Offline dashboard: minute-by-minute replay of the forecast  •  kill-chain timeline  •  network topology  •  three explanation channels per prediction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298448"/>
            <a:ext cx="5623560" cy="402336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Feasibility — already built and measured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411480" y="1792224"/>
          <a:ext cx="56235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005840"/>
                <a:gridCol w="1005840"/>
                <a:gridCol w="100584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Sustained compromise, temporal split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FPR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333F50"/>
                          </a:solidFill>
                          <a:latin typeface="Arial"/>
                        </a:rPr>
                        <a:t>World model (ours)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F50"/>
                          </a:solidFill>
                          <a:latin typeface="Arial"/>
                        </a:rPr>
                        <a:t>0.984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F50"/>
                          </a:solidFill>
                          <a:latin typeface="Arial"/>
                        </a:rPr>
                        <a:t>0.000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F50"/>
                          </a:solidFill>
                          <a:latin typeface="Arial"/>
                        </a:rPr>
                        <a:t>1.000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Logistic regression, 8-window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0.744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0.004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0.912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Logistic regression, 1 window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0.550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0.009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0.842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3" name="Rounded Rectangle 17412"/>
          <p:cNvSpPr/>
          <p:nvPr/>
        </p:nvSpPr>
        <p:spPr>
          <a:xfrm>
            <a:off x="411480" y="3346704"/>
            <a:ext cx="562356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Why it is deployable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411480" y="3675888"/>
            <a:ext cx="5623560" cy="252374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Runs on a laptop CPU — no GPU, no cloud, no licence cost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Consumes NetFlow/IPFIX that enterprises already export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Sub-second triage of a full capture after first load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Fully offline — suitable for air-gapped Critical Information Infrastructure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MITRE stage macro-F1 0.455 vs 0.353; beats a persistence baseline at 9 of 10 forecast horizons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Replay reconstructs what the model knew at every minute, so an analyst can audit a decision after the fact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355080" y="1298448"/>
            <a:ext cx="5394959" cy="329184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Potential Challenges and Risks  →  Our Mitigation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355080" y="1627631"/>
            <a:ext cx="5394959" cy="2139696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Label leak through metadata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The available PCAP held only botnet traffic, so a “packet data present” flag became a perfect label proxy → detected it, removed it; F1 rose 0.23 → 0.98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Dataset has no pre-infection baseline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CTU-13 hosts are malicious in every window → we forecast kill-chain progression instead, and say so plainly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Generalising to unseen malware families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Only ~4 infected hosts to learn from → reported as a measured limitation, not hidden; needs more captures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Short-burst compromise is missed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Same IP scores 1.000 with 284 malicious windows and 0.000 with 20 → not memorisation, a dependence on sustained activity; F1 above is for sustained compromise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Class imbalance (0.8% positive)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Transition-aware weighted sampling + noise augmentation + a deliberately small model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355080" y="3858768"/>
            <a:ext cx="5394959" cy="256032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Live output — the compromised host and its malicious fan-out</a:t>
            </a:r>
          </a:p>
        </p:txBody>
      </p:sp>
      <p:pic>
        <p:nvPicPr>
          <p:cNvPr id="17418" name="Picture 17417" descr="topology-w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178807"/>
            <a:ext cx="5394959" cy="2026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298448"/>
            <a:ext cx="11338560" cy="51206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50" b="1">
                <a:solidFill>
                  <a:srgbClr val="FFFFFF"/>
                </a:solidFill>
                <a:latin typeface="Arial"/>
              </a:rPr>
              <a:t>Shifting the defender from reacting after compromise to acting during the kill chain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956815"/>
            <a:ext cx="361188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Who Benefits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11480" y="2285999"/>
            <a:ext cx="3611880" cy="288950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SOC analysts — a ranked queue instead of an alert flood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Critical Information Infrastructure: power, banking, telecom, transport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CERT-In and national response teams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Enterprises already exporting NetFlow, with no new hardware to buy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51960" y="1956815"/>
            <a:ext cx="3611880" cy="32918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Operational Benefits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4251960" y="2285999"/>
            <a:ext cx="3611880" cy="288950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Up to 10 minutes of warning before the kill chain closes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False positive rate 0.000 on the held-out period — analyst time is not wasted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Replay lets an analyst rewind an incident minute by minute and see what the model knew, when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Explanations make alerts auditable and challengeable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ATT&amp;CK stage names map onto existing playbooks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092440" y="1956815"/>
            <a:ext cx="3611880" cy="32918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Strategic and Economic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8092440" y="2285999"/>
            <a:ext cx="3611880" cy="288950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Fully indigenous, open-source — no foreign vendor dependency for national infrastructure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Zero licence cost; runs on existing hardware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Air-gap friendly — nothing leaves the network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Earlier detection cuts breach cost, downtime and data loss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11480" y="5358384"/>
            <a:ext cx="11338560" cy="51206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Every claim on this deck is reproducible from the repository: one command prepares the data, one trains, one benchmarks.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298448"/>
            <a:ext cx="562356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Datasets and Knowledge Bases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11480" y="1627631"/>
            <a:ext cx="5623560" cy="4553712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CTU-13 Dataset — Stratosphere IPS, CTU Prague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García et al., “An empirical comparison of botnet detection methods”, Computers &amp; Security, 2014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mcfp.felk.cvut.cz/publicDatasets/CTU-13-Dataset/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MITRE ATT&amp;CK Enterprise Matrix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Tactics TA0043, TA0001, TA0008, TA0011, TA0010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attack.mitre.org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CIC-IDS2017 / CSE-CIC-IDS2018 — UNB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Reviewed; access now gated behind registration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NCIIPC — nciipc.gov.in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537960" y="1298448"/>
            <a:ext cx="5623560" cy="32918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Methods and Literature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6537960" y="1627631"/>
            <a:ext cx="5623560" cy="4553712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World models / latent dynamics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Ha &amp; Schmidhuber, “World Models”, NeurIPS 2018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Hafner et al., “Learning Latent Dynamics for Planning from Pixels” (PlaNet/RSSM), ICML 2019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Hafner et al., “Dream to Control” (Dreamer), ICLR 2020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Explainability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Sundararajan et al., “Axiomatic Attribution for Deep Networks” (Integrated Gradients), ICML 2017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Vaswani et al., “Attention Is All You Need”, NeurIPS 2017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Tools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Scapy • PyTorch • scikit-learn • FastAPI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